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Overpass Bold" panose="020B0604020202020204" charset="0"/>
      <p:regular r:id="rId13"/>
    </p:embeddedFont>
    <p:embeddedFont>
      <p:font typeface="Overpass Light" panose="020B0604020202020204" charset="0"/>
      <p:regular r:id="rId14"/>
    </p:embeddedFont>
    <p:embeddedFont>
      <p:font typeface="Syne" panose="020B0604020202020204" charset="0"/>
      <p:regular r:id="rId15"/>
    </p:embeddedFont>
    <p:embeddedFont>
      <p:font typeface="Syne 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706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F4BE"/>
          </a:solidFill>
          <a:ln/>
        </p:spPr>
      </p:sp>
      <p:sp>
        <p:nvSpPr>
          <p:cNvPr id="3" name="Shape 1"/>
          <p:cNvSpPr/>
          <p:nvPr/>
        </p:nvSpPr>
        <p:spPr>
          <a:xfrm>
            <a:off x="0" y="0"/>
            <a:ext cx="12191695" cy="68580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534418"/>
            <a:ext cx="10868745" cy="1033463"/>
          </a:xfrm>
          <a:prstGeom prst="rect">
            <a:avLst/>
          </a:prstGeom>
          <a:noFill/>
          <a:ln/>
        </p:spPr>
        <p:txBody>
          <a:bodyPr wrap="square" lIns="0" tIns="0" rIns="0" bIns="0" rtlCol="0" anchor="t">
            <a:normAutofit/>
          </a:bodyPr>
          <a:lstStyle/>
          <a:p>
            <a:pPr marL="0" indent="0" algn="ctr">
              <a:lnSpc>
                <a:spcPct val="104000"/>
              </a:lnSpc>
              <a:buNone/>
            </a:pPr>
            <a:r>
              <a:rPr lang="en-US" sz="3250" b="1" dirty="0">
                <a:solidFill>
                  <a:srgbClr val="233939"/>
                </a:solidFill>
                <a:latin typeface="Syne Bold" pitchFamily="34" charset="0"/>
                <a:ea typeface="Syne Bold" pitchFamily="34" charset="-122"/>
                <a:cs typeface="Syne Bold" pitchFamily="34" charset="-120"/>
              </a:rPr>
              <a:t>IoT-Based Urban Noise Pollution Monitoring System</a:t>
            </a:r>
            <a:endParaRPr lang="en-US" sz="3250" dirty="0"/>
          </a:p>
        </p:txBody>
      </p:sp>
      <p:sp>
        <p:nvSpPr>
          <p:cNvPr id="3" name="Text 1"/>
          <p:cNvSpPr/>
          <p:nvPr/>
        </p:nvSpPr>
        <p:spPr>
          <a:xfrm>
            <a:off x="661475" y="2633960"/>
            <a:ext cx="10868745" cy="258465"/>
          </a:xfrm>
          <a:prstGeom prst="rect">
            <a:avLst/>
          </a:prstGeom>
          <a:noFill/>
          <a:ln/>
        </p:spPr>
        <p:txBody>
          <a:bodyPr wrap="none" lIns="0" tIns="0" rIns="0" bIns="0" rtlCol="0" anchor="t"/>
          <a:lstStyle/>
          <a:p>
            <a:pPr marL="0" indent="0" algn="ctr">
              <a:lnSpc>
                <a:spcPct val="104000"/>
              </a:lnSpc>
              <a:buNone/>
            </a:pPr>
            <a:r>
              <a:rPr lang="en-US" sz="1600" b="1" dirty="0">
                <a:solidFill>
                  <a:srgbClr val="233939"/>
                </a:solidFill>
                <a:latin typeface="Syne Bold" pitchFamily="34" charset="0"/>
                <a:ea typeface="Syne Bold" pitchFamily="34" charset="-122"/>
                <a:cs typeface="Syne Bold" pitchFamily="34" charset="-120"/>
              </a:rPr>
              <a:t>Real-Time IoT-Based Noise Monitoring and Environmental Analysis</a:t>
            </a:r>
            <a:endParaRPr lang="en-US" sz="1600" dirty="0"/>
          </a:p>
        </p:txBody>
      </p:sp>
      <p:sp>
        <p:nvSpPr>
          <p:cNvPr id="4" name="Shape 2"/>
          <p:cNvSpPr/>
          <p:nvPr/>
        </p:nvSpPr>
        <p:spPr>
          <a:xfrm>
            <a:off x="661475" y="3140472"/>
            <a:ext cx="10868745" cy="2183110"/>
          </a:xfrm>
          <a:prstGeom prst="roundRect">
            <a:avLst>
              <a:gd name="adj" fmla="val 3182"/>
            </a:avLst>
          </a:prstGeom>
          <a:solidFill>
            <a:srgbClr val="DDEEE6"/>
          </a:solidFill>
          <a:ln w="6350">
            <a:solidFill>
              <a:srgbClr val="C3D4CC"/>
            </a:solidFill>
            <a:prstDash val="solid"/>
          </a:ln>
        </p:spPr>
      </p:sp>
      <p:sp>
        <p:nvSpPr>
          <p:cNvPr id="5" name="Shape 3"/>
          <p:cNvSpPr/>
          <p:nvPr/>
        </p:nvSpPr>
        <p:spPr>
          <a:xfrm>
            <a:off x="667825" y="3146822"/>
            <a:ext cx="5428023" cy="1217513"/>
          </a:xfrm>
          <a:custGeom>
            <a:avLst/>
            <a:gdLst/>
            <a:ahLst/>
            <a:cxnLst/>
            <a:rect l="l" t="t" r="r" b="b"/>
            <a:pathLst>
              <a:path w="5428023" h="1217513">
                <a:moveTo>
                  <a:pt x="57887" y="0"/>
                </a:moveTo>
                <a:lnTo>
                  <a:pt x="5428023" y="0"/>
                </a:lnTo>
                <a:lnTo>
                  <a:pt x="5428023" y="1217513"/>
                </a:lnTo>
                <a:lnTo>
                  <a:pt x="0" y="1217513"/>
                </a:lnTo>
                <a:lnTo>
                  <a:pt x="0" y="57888"/>
                </a:lnTo>
                <a:arcTo wR="57887" hR="57888" stAng="10800000" swAng="5400000"/>
                <a:close/>
              </a:path>
            </a:pathLst>
          </a:custGeom>
          <a:solidFill>
            <a:srgbClr val="DDEEE6"/>
          </a:solidFill>
          <a:ln/>
        </p:spPr>
      </p:sp>
      <p:sp>
        <p:nvSpPr>
          <p:cNvPr id="6" name="Text 4"/>
          <p:cNvSpPr/>
          <p:nvPr/>
        </p:nvSpPr>
        <p:spPr>
          <a:xfrm>
            <a:off x="833119" y="3312120"/>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IoT Sensors</a:t>
            </a:r>
            <a:endParaRPr lang="en-US" sz="1600" dirty="0"/>
          </a:p>
        </p:txBody>
      </p:sp>
      <p:sp>
        <p:nvSpPr>
          <p:cNvPr id="7" name="Text 5"/>
          <p:cNvSpPr/>
          <p:nvPr/>
        </p:nvSpPr>
        <p:spPr>
          <a:xfrm>
            <a:off x="833119" y="3669804"/>
            <a:ext cx="509743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Continuous environmental noise measurement at multiple urban locations</a:t>
            </a:r>
            <a:endParaRPr lang="en-US" sz="1300" dirty="0"/>
          </a:p>
        </p:txBody>
      </p:sp>
      <p:sp>
        <p:nvSpPr>
          <p:cNvPr id="8" name="Shape 6"/>
          <p:cNvSpPr/>
          <p:nvPr/>
        </p:nvSpPr>
        <p:spPr>
          <a:xfrm>
            <a:off x="6095848" y="3146822"/>
            <a:ext cx="5428023" cy="1217513"/>
          </a:xfrm>
          <a:custGeom>
            <a:avLst/>
            <a:gdLst/>
            <a:ahLst/>
            <a:cxnLst/>
            <a:rect l="l" t="t" r="r" b="b"/>
            <a:pathLst>
              <a:path w="5428023" h="1217513">
                <a:moveTo>
                  <a:pt x="0" y="0"/>
                </a:moveTo>
                <a:lnTo>
                  <a:pt x="5370136" y="0"/>
                </a:lnTo>
                <a:arcTo wR="57887" hR="57888" stAng="16200000" swAng="5400000"/>
                <a:lnTo>
                  <a:pt x="5428023" y="1217513"/>
                </a:lnTo>
                <a:lnTo>
                  <a:pt x="0" y="1217513"/>
                </a:lnTo>
                <a:lnTo>
                  <a:pt x="0" y="0"/>
                </a:lnTo>
                <a:close/>
              </a:path>
            </a:pathLst>
          </a:custGeom>
          <a:solidFill>
            <a:srgbClr val="DDEEE6"/>
          </a:solidFill>
          <a:ln/>
        </p:spPr>
      </p:sp>
      <p:sp>
        <p:nvSpPr>
          <p:cNvPr id="9" name="Shape 7"/>
          <p:cNvSpPr/>
          <p:nvPr/>
        </p:nvSpPr>
        <p:spPr>
          <a:xfrm>
            <a:off x="6095848" y="3146822"/>
            <a:ext cx="19050" cy="1217513"/>
          </a:xfrm>
          <a:prstGeom prst="roundRect">
            <a:avLst>
              <a:gd name="adj" fmla="val 49999"/>
            </a:avLst>
          </a:prstGeom>
          <a:solidFill>
            <a:srgbClr val="C3D4CC"/>
          </a:solidFill>
          <a:ln/>
        </p:spPr>
      </p:sp>
      <p:sp>
        <p:nvSpPr>
          <p:cNvPr id="10" name="Text 8"/>
          <p:cNvSpPr/>
          <p:nvPr/>
        </p:nvSpPr>
        <p:spPr>
          <a:xfrm>
            <a:off x="6261142" y="3312120"/>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GPS Integration</a:t>
            </a:r>
            <a:endParaRPr lang="en-US" sz="1600" dirty="0"/>
          </a:p>
        </p:txBody>
      </p:sp>
      <p:sp>
        <p:nvSpPr>
          <p:cNvPr id="11" name="Text 9"/>
          <p:cNvSpPr/>
          <p:nvPr/>
        </p:nvSpPr>
        <p:spPr>
          <a:xfrm>
            <a:off x="6261142" y="3669804"/>
            <a:ext cx="5097434" cy="264616"/>
          </a:xfrm>
          <a:prstGeom prst="rect">
            <a:avLst/>
          </a:prstGeom>
          <a:noFill/>
          <a:ln/>
        </p:spPr>
        <p:txBody>
          <a:bodyPr wrap="none" lIns="0" tIns="0" rIns="0" bIns="0" rtlCol="0" anchor="t"/>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Location-specific data tagging for precise spatial analysis</a:t>
            </a:r>
            <a:endParaRPr lang="en-US" sz="1300" dirty="0"/>
          </a:p>
        </p:txBody>
      </p:sp>
      <p:sp>
        <p:nvSpPr>
          <p:cNvPr id="12" name="Shape 10"/>
          <p:cNvSpPr/>
          <p:nvPr/>
        </p:nvSpPr>
        <p:spPr>
          <a:xfrm>
            <a:off x="667825" y="4364335"/>
            <a:ext cx="5428023" cy="952897"/>
          </a:xfrm>
          <a:custGeom>
            <a:avLst/>
            <a:gdLst/>
            <a:ahLst/>
            <a:cxnLst/>
            <a:rect l="l" t="t" r="r" b="b"/>
            <a:pathLst>
              <a:path w="5428023" h="952897">
                <a:moveTo>
                  <a:pt x="0" y="0"/>
                </a:moveTo>
                <a:lnTo>
                  <a:pt x="5428023" y="0"/>
                </a:lnTo>
                <a:lnTo>
                  <a:pt x="5428023" y="952897"/>
                </a:lnTo>
                <a:lnTo>
                  <a:pt x="57887" y="952897"/>
                </a:lnTo>
                <a:arcTo wR="57887" hR="57888" stAng="5400000" swAng="5400000"/>
                <a:lnTo>
                  <a:pt x="0" y="0"/>
                </a:lnTo>
                <a:close/>
              </a:path>
            </a:pathLst>
          </a:custGeom>
          <a:solidFill>
            <a:srgbClr val="DDEEE6"/>
          </a:solidFill>
          <a:ln/>
        </p:spPr>
      </p:sp>
      <p:sp>
        <p:nvSpPr>
          <p:cNvPr id="13" name="Shape 11"/>
          <p:cNvSpPr/>
          <p:nvPr/>
        </p:nvSpPr>
        <p:spPr>
          <a:xfrm>
            <a:off x="667825" y="4364335"/>
            <a:ext cx="5428023" cy="19050"/>
          </a:xfrm>
          <a:prstGeom prst="roundRect">
            <a:avLst>
              <a:gd name="adj" fmla="val 49999"/>
            </a:avLst>
          </a:prstGeom>
          <a:solidFill>
            <a:srgbClr val="C3D4CC"/>
          </a:solidFill>
          <a:ln/>
        </p:spPr>
      </p:sp>
      <p:sp>
        <p:nvSpPr>
          <p:cNvPr id="14" name="Text 12"/>
          <p:cNvSpPr/>
          <p:nvPr/>
        </p:nvSpPr>
        <p:spPr>
          <a:xfrm>
            <a:off x="833119" y="4529634"/>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Cloud Connectivity</a:t>
            </a:r>
            <a:endParaRPr lang="en-US" sz="1600" dirty="0"/>
          </a:p>
        </p:txBody>
      </p:sp>
      <p:sp>
        <p:nvSpPr>
          <p:cNvPr id="15" name="Text 13"/>
          <p:cNvSpPr/>
          <p:nvPr/>
        </p:nvSpPr>
        <p:spPr>
          <a:xfrm>
            <a:off x="833119" y="4887317"/>
            <a:ext cx="5097434" cy="264616"/>
          </a:xfrm>
          <a:prstGeom prst="rect">
            <a:avLst/>
          </a:prstGeom>
          <a:noFill/>
          <a:ln/>
        </p:spPr>
        <p:txBody>
          <a:bodyPr wrap="none" lIns="0" tIns="0" rIns="0" bIns="0" rtlCol="0" anchor="t"/>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Centralized data transmission and real-time processing</a:t>
            </a:r>
            <a:endParaRPr lang="en-US" sz="1300" dirty="0"/>
          </a:p>
        </p:txBody>
      </p:sp>
      <p:sp>
        <p:nvSpPr>
          <p:cNvPr id="16" name="Shape 14"/>
          <p:cNvSpPr/>
          <p:nvPr/>
        </p:nvSpPr>
        <p:spPr>
          <a:xfrm>
            <a:off x="6095848" y="4364335"/>
            <a:ext cx="5428023" cy="952897"/>
          </a:xfrm>
          <a:custGeom>
            <a:avLst/>
            <a:gdLst/>
            <a:ahLst/>
            <a:cxnLst/>
            <a:rect l="l" t="t" r="r" b="b"/>
            <a:pathLst>
              <a:path w="5428023" h="952897">
                <a:moveTo>
                  <a:pt x="0" y="0"/>
                </a:moveTo>
                <a:lnTo>
                  <a:pt x="5428023" y="0"/>
                </a:lnTo>
                <a:lnTo>
                  <a:pt x="5428023" y="895008"/>
                </a:lnTo>
                <a:arcTo wR="57887" hR="57888" stAng="0" swAng="5400000"/>
                <a:lnTo>
                  <a:pt x="0" y="952897"/>
                </a:lnTo>
                <a:lnTo>
                  <a:pt x="0" y="0"/>
                </a:lnTo>
                <a:close/>
              </a:path>
            </a:pathLst>
          </a:custGeom>
          <a:solidFill>
            <a:srgbClr val="DDEEE6"/>
          </a:solidFill>
          <a:ln/>
        </p:spPr>
      </p:sp>
      <p:sp>
        <p:nvSpPr>
          <p:cNvPr id="17" name="Shape 15"/>
          <p:cNvSpPr/>
          <p:nvPr/>
        </p:nvSpPr>
        <p:spPr>
          <a:xfrm>
            <a:off x="6095848" y="4364335"/>
            <a:ext cx="19050" cy="952897"/>
          </a:xfrm>
          <a:prstGeom prst="roundRect">
            <a:avLst>
              <a:gd name="adj" fmla="val 49999"/>
            </a:avLst>
          </a:prstGeom>
          <a:solidFill>
            <a:srgbClr val="C3D4CC"/>
          </a:solidFill>
          <a:ln/>
        </p:spPr>
      </p:sp>
      <p:sp>
        <p:nvSpPr>
          <p:cNvPr id="18" name="Shape 16"/>
          <p:cNvSpPr/>
          <p:nvPr/>
        </p:nvSpPr>
        <p:spPr>
          <a:xfrm>
            <a:off x="6095848" y="4364335"/>
            <a:ext cx="5428023" cy="19050"/>
          </a:xfrm>
          <a:prstGeom prst="roundRect">
            <a:avLst>
              <a:gd name="adj" fmla="val 49999"/>
            </a:avLst>
          </a:prstGeom>
          <a:solidFill>
            <a:srgbClr val="C3D4CC"/>
          </a:solidFill>
          <a:ln/>
        </p:spPr>
      </p:sp>
      <p:sp>
        <p:nvSpPr>
          <p:cNvPr id="19" name="Text 17"/>
          <p:cNvSpPr/>
          <p:nvPr/>
        </p:nvSpPr>
        <p:spPr>
          <a:xfrm>
            <a:off x="6261142" y="4529634"/>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Environmental Analytics</a:t>
            </a:r>
            <a:endParaRPr lang="en-US" sz="1600" dirty="0"/>
          </a:p>
        </p:txBody>
      </p:sp>
      <p:sp>
        <p:nvSpPr>
          <p:cNvPr id="20" name="Text 18"/>
          <p:cNvSpPr/>
          <p:nvPr/>
        </p:nvSpPr>
        <p:spPr>
          <a:xfrm>
            <a:off x="6261142" y="4887317"/>
            <a:ext cx="5097434" cy="264616"/>
          </a:xfrm>
          <a:prstGeom prst="rect">
            <a:avLst/>
          </a:prstGeom>
          <a:noFill/>
          <a:ln/>
        </p:spPr>
        <p:txBody>
          <a:bodyPr wrap="none" lIns="0" tIns="0" rIns="0" bIns="0" rtlCol="0" anchor="t"/>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Actionable insights for authorities and sustainable city management</a:t>
            </a:r>
            <a:endParaRPr lang="en-US" sz="1300" dirty="0"/>
          </a:p>
        </p:txBody>
      </p:sp>
      <p:sp>
        <p:nvSpPr>
          <p:cNvPr id="21" name="TextBox 20">
            <a:extLst>
              <a:ext uri="{FF2B5EF4-FFF2-40B4-BE49-F238E27FC236}">
                <a16:creationId xmlns:a16="http://schemas.microsoft.com/office/drawing/2014/main" id="{6183D6B1-1B4D-C4E8-21FC-375074775B60}"/>
              </a:ext>
            </a:extLst>
          </p:cNvPr>
          <p:cNvSpPr txBox="1"/>
          <p:nvPr/>
        </p:nvSpPr>
        <p:spPr>
          <a:xfrm>
            <a:off x="9526555" y="6239661"/>
            <a:ext cx="2210862" cy="646331"/>
          </a:xfrm>
          <a:prstGeom prst="rect">
            <a:avLst/>
          </a:prstGeom>
          <a:noFill/>
        </p:spPr>
        <p:txBody>
          <a:bodyPr wrap="none" rtlCol="0">
            <a:spAutoFit/>
          </a:bodyPr>
          <a:lstStyle/>
          <a:p>
            <a:r>
              <a:rPr lang="en-IN"/>
              <a:t>SHAIK RAHEEMTULLA</a:t>
            </a:r>
            <a:br>
              <a:rPr lang="en-IN" dirty="0"/>
            </a:br>
            <a:r>
              <a:rPr lang="en-IN" dirty="0"/>
              <a:t>323129520123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14747"/>
            <a:ext cx="10868745" cy="468412"/>
          </a:xfrm>
          <a:prstGeom prst="rect">
            <a:avLst/>
          </a:prstGeom>
          <a:noFill/>
          <a:ln/>
        </p:spPr>
        <p:txBody>
          <a:bodyPr wrap="none" lIns="0" tIns="0" rIns="0" bIns="0" rtlCol="0" anchor="t"/>
          <a:lstStyle/>
          <a:p>
            <a:pPr marL="0" indent="0" algn="l">
              <a:lnSpc>
                <a:spcPct val="104000"/>
              </a:lnSpc>
              <a:buNone/>
            </a:pPr>
            <a:r>
              <a:rPr lang="en-US" sz="2950" b="1" dirty="0">
                <a:solidFill>
                  <a:srgbClr val="233939"/>
                </a:solidFill>
                <a:latin typeface="Syne Bold" pitchFamily="34" charset="0"/>
                <a:ea typeface="Syne Bold" pitchFamily="34" charset="-122"/>
                <a:cs typeface="Syne Bold" pitchFamily="34" charset="-120"/>
              </a:rPr>
              <a:t>Problem Statement</a:t>
            </a:r>
            <a:endParaRPr lang="en-US" sz="2950" dirty="0"/>
          </a:p>
        </p:txBody>
      </p:sp>
      <p:sp>
        <p:nvSpPr>
          <p:cNvPr id="3" name="Shape 1"/>
          <p:cNvSpPr/>
          <p:nvPr/>
        </p:nvSpPr>
        <p:spPr>
          <a:xfrm>
            <a:off x="553528" y="1186855"/>
            <a:ext cx="5467412" cy="4442023"/>
          </a:xfrm>
          <a:prstGeom prst="roundRect">
            <a:avLst>
              <a:gd name="adj" fmla="val 2429"/>
            </a:avLst>
          </a:prstGeom>
          <a:solidFill>
            <a:srgbClr val="224435"/>
          </a:solidFill>
          <a:ln/>
        </p:spPr>
      </p:sp>
      <p:sp>
        <p:nvSpPr>
          <p:cNvPr id="4" name="Text 2"/>
          <p:cNvSpPr/>
          <p:nvPr/>
        </p:nvSpPr>
        <p:spPr>
          <a:xfrm>
            <a:off x="703344" y="1322685"/>
            <a:ext cx="5167779" cy="234156"/>
          </a:xfrm>
          <a:prstGeom prst="rect">
            <a:avLst/>
          </a:prstGeom>
          <a:noFill/>
          <a:ln/>
        </p:spPr>
        <p:txBody>
          <a:bodyPr wrap="none" lIns="0" tIns="0" rIns="0" bIns="0" rtlCol="0" anchor="t"/>
          <a:lstStyle/>
          <a:p>
            <a:pPr marL="0" indent="0" algn="l">
              <a:lnSpc>
                <a:spcPct val="104000"/>
              </a:lnSpc>
              <a:buNone/>
            </a:pPr>
            <a:r>
              <a:rPr lang="en-US" sz="1450" b="1" dirty="0">
                <a:solidFill>
                  <a:srgbClr val="FFFFFF"/>
                </a:solidFill>
                <a:latin typeface="Syne Bold" pitchFamily="34" charset="0"/>
                <a:ea typeface="Syne Bold" pitchFamily="34" charset="-122"/>
                <a:cs typeface="Syne Bold" pitchFamily="34" charset="-120"/>
              </a:rPr>
              <a:t>The Urban Noise Challenge</a:t>
            </a:r>
            <a:endParaRPr lang="en-US" sz="1450" dirty="0"/>
          </a:p>
        </p:txBody>
      </p:sp>
      <p:sp>
        <p:nvSpPr>
          <p:cNvPr id="5" name="Text 3"/>
          <p:cNvSpPr/>
          <p:nvPr/>
        </p:nvSpPr>
        <p:spPr>
          <a:xfrm>
            <a:off x="703344" y="1692672"/>
            <a:ext cx="5167779" cy="1493838"/>
          </a:xfrm>
          <a:prstGeom prst="rect">
            <a:avLst/>
          </a:prstGeom>
          <a:noFill/>
          <a:ln/>
        </p:spPr>
        <p:txBody>
          <a:bodyPr wrap="square" lIns="0" tIns="0" rIns="0" bIns="0" rtlCol="0" anchor="t">
            <a:normAutofit/>
          </a:bodyPr>
          <a:lstStyle/>
          <a:p>
            <a:pPr marL="0" indent="0" algn="l">
              <a:lnSpc>
                <a:spcPct val="127000"/>
              </a:lnSpc>
              <a:spcAft>
                <a:spcPts val="950"/>
              </a:spcAft>
              <a:buNone/>
            </a:pPr>
            <a:r>
              <a:rPr lang="en-US" sz="1150" dirty="0">
                <a:solidFill>
                  <a:srgbClr val="FFFFFF"/>
                </a:solidFill>
                <a:latin typeface="Overpass Light" pitchFamily="34" charset="0"/>
                <a:ea typeface="Overpass Light" pitchFamily="34" charset="-122"/>
                <a:cs typeface="Overpass Light" pitchFamily="34" charset="-120"/>
              </a:rPr>
              <a:t>Noise pollution is a rapidly growing concern in urban environments worldwide. Its effects extend beyond mere discomfort — impacting </a:t>
            </a:r>
            <a:r>
              <a:rPr lang="en-US" sz="1150" b="1" dirty="0">
                <a:solidFill>
                  <a:srgbClr val="FFFFFF"/>
                </a:solidFill>
                <a:latin typeface="Overpass Bold" pitchFamily="34" charset="0"/>
                <a:ea typeface="Overpass Bold" pitchFamily="34" charset="-122"/>
                <a:cs typeface="Overpass Bold" pitchFamily="34" charset="-120"/>
              </a:rPr>
              <a:t>public health, workforce productivity, and overall environmental quality</a:t>
            </a:r>
            <a:r>
              <a:rPr lang="en-US" sz="1150" dirty="0">
                <a:solidFill>
                  <a:srgbClr val="FFFFFF"/>
                </a:solidFill>
                <a:latin typeface="Overpass Light" pitchFamily="34" charset="0"/>
                <a:ea typeface="Overpass Light" pitchFamily="34" charset="-122"/>
                <a:cs typeface="Overpass Light" pitchFamily="34" charset="-120"/>
              </a:rPr>
              <a:t> in measurable and significant ways.</a:t>
            </a:r>
            <a:endParaRPr lang="en-US" sz="1150" dirty="0"/>
          </a:p>
          <a:p>
            <a:pPr marL="0" indent="0" algn="l">
              <a:lnSpc>
                <a:spcPct val="127000"/>
              </a:lnSpc>
              <a:buNone/>
            </a:pPr>
            <a:r>
              <a:rPr lang="en-US" sz="1150" dirty="0">
                <a:solidFill>
                  <a:srgbClr val="FFFFFF"/>
                </a:solidFill>
                <a:latin typeface="Overpass Light" pitchFamily="34" charset="0"/>
                <a:ea typeface="Overpass Light" pitchFamily="34" charset="-122"/>
                <a:cs typeface="Overpass Light" pitchFamily="34" charset="-120"/>
              </a:rPr>
              <a:t>Despite its severity, noise pollution remains one of the least systematically monitored environmental hazards in most cities.</a:t>
            </a:r>
            <a:endParaRPr lang="en-US" sz="1150" dirty="0"/>
          </a:p>
        </p:txBody>
      </p:sp>
      <p:sp>
        <p:nvSpPr>
          <p:cNvPr id="6" name="Text 4"/>
          <p:cNvSpPr/>
          <p:nvPr/>
        </p:nvSpPr>
        <p:spPr>
          <a:xfrm>
            <a:off x="6285053" y="1322685"/>
            <a:ext cx="5251517" cy="234156"/>
          </a:xfrm>
          <a:prstGeom prst="rect">
            <a:avLst/>
          </a:prstGeom>
          <a:noFill/>
          <a:ln/>
        </p:spPr>
        <p:txBody>
          <a:bodyPr wrap="none" lIns="0" tIns="0" rIns="0" bIns="0" rtlCol="0" anchor="t"/>
          <a:lstStyle/>
          <a:p>
            <a:pPr marL="0" indent="0" algn="l">
              <a:lnSpc>
                <a:spcPct val="104000"/>
              </a:lnSpc>
              <a:buNone/>
            </a:pPr>
            <a:r>
              <a:rPr lang="en-US" sz="1450" b="1" dirty="0">
                <a:solidFill>
                  <a:srgbClr val="233939"/>
                </a:solidFill>
                <a:latin typeface="Syne Bold" pitchFamily="34" charset="0"/>
                <a:ea typeface="Syne Bold" pitchFamily="34" charset="-122"/>
                <a:cs typeface="Syne Bold" pitchFamily="34" charset="-120"/>
              </a:rPr>
              <a:t>Limitations of Traditional Monitoring</a:t>
            </a:r>
            <a:endParaRPr lang="en-US" sz="145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5053" y="1709638"/>
            <a:ext cx="5251517" cy="1164927"/>
          </a:xfrm>
          <a:prstGeom prst="rect">
            <a:avLst/>
          </a:prstGeom>
        </p:spPr>
      </p:pic>
      <p:sp>
        <p:nvSpPr>
          <p:cNvPr id="8" name="Text 5"/>
          <p:cNvSpPr/>
          <p:nvPr/>
        </p:nvSpPr>
        <p:spPr>
          <a:xfrm>
            <a:off x="6530117" y="1878509"/>
            <a:ext cx="4837587" cy="234156"/>
          </a:xfrm>
          <a:prstGeom prst="rect">
            <a:avLst/>
          </a:prstGeom>
          <a:noFill/>
          <a:ln/>
        </p:spPr>
        <p:txBody>
          <a:bodyPr wrap="none" lIns="0" tIns="0" rIns="0" bIns="0" rtlCol="0" anchor="t"/>
          <a:lstStyle/>
          <a:p>
            <a:pPr marL="0" indent="0" algn="l">
              <a:lnSpc>
                <a:spcPct val="104000"/>
              </a:lnSpc>
              <a:buNone/>
            </a:pPr>
            <a:r>
              <a:rPr lang="en-US" sz="1450" b="1" dirty="0">
                <a:solidFill>
                  <a:srgbClr val="3B4E4E"/>
                </a:solidFill>
                <a:latin typeface="Syne Bold" pitchFamily="34" charset="0"/>
                <a:ea typeface="Syne Bold" pitchFamily="34" charset="-122"/>
                <a:cs typeface="Syne Bold" pitchFamily="34" charset="-120"/>
              </a:rPr>
              <a:t>Periodic Surveys</a:t>
            </a:r>
            <a:endParaRPr lang="en-US" sz="1450" dirty="0"/>
          </a:p>
        </p:txBody>
      </p:sp>
      <p:sp>
        <p:nvSpPr>
          <p:cNvPr id="9" name="Text 6"/>
          <p:cNvSpPr/>
          <p:nvPr/>
        </p:nvSpPr>
        <p:spPr>
          <a:xfrm>
            <a:off x="6530117" y="2248495"/>
            <a:ext cx="4837587"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B4E4E"/>
                </a:solidFill>
                <a:latin typeface="Overpass Light" pitchFamily="34" charset="0"/>
                <a:ea typeface="Overpass Light" pitchFamily="34" charset="-122"/>
                <a:cs typeface="Overpass Light" pitchFamily="34" charset="-120"/>
              </a:rPr>
              <a:t>Conducted infrequently, missing transient noise events and failing to capture temporal patterns in pollution levels.</a:t>
            </a:r>
            <a:endParaRPr lang="en-US" sz="115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5053" y="3010396"/>
            <a:ext cx="5251517" cy="1164927"/>
          </a:xfrm>
          <a:prstGeom prst="rect">
            <a:avLst/>
          </a:prstGeom>
        </p:spPr>
      </p:pic>
      <p:sp>
        <p:nvSpPr>
          <p:cNvPr id="11" name="Text 7"/>
          <p:cNvSpPr/>
          <p:nvPr/>
        </p:nvSpPr>
        <p:spPr>
          <a:xfrm>
            <a:off x="6530117" y="3179266"/>
            <a:ext cx="4837587" cy="234156"/>
          </a:xfrm>
          <a:prstGeom prst="rect">
            <a:avLst/>
          </a:prstGeom>
          <a:noFill/>
          <a:ln/>
        </p:spPr>
        <p:txBody>
          <a:bodyPr wrap="none" lIns="0" tIns="0" rIns="0" bIns="0" rtlCol="0" anchor="t"/>
          <a:lstStyle/>
          <a:p>
            <a:pPr marL="0" indent="0" algn="l">
              <a:lnSpc>
                <a:spcPct val="104000"/>
              </a:lnSpc>
              <a:buNone/>
            </a:pPr>
            <a:r>
              <a:rPr lang="en-US" sz="1450" b="1" dirty="0">
                <a:solidFill>
                  <a:srgbClr val="3B4E4E"/>
                </a:solidFill>
                <a:latin typeface="Syne Bold" pitchFamily="34" charset="0"/>
                <a:ea typeface="Syne Bold" pitchFamily="34" charset="-122"/>
                <a:cs typeface="Syne Bold" pitchFamily="34" charset="-120"/>
              </a:rPr>
              <a:t>Limited Station Coverage</a:t>
            </a:r>
            <a:endParaRPr lang="en-US" sz="1450" dirty="0"/>
          </a:p>
        </p:txBody>
      </p:sp>
      <p:sp>
        <p:nvSpPr>
          <p:cNvPr id="12" name="Text 8"/>
          <p:cNvSpPr/>
          <p:nvPr/>
        </p:nvSpPr>
        <p:spPr>
          <a:xfrm>
            <a:off x="6530117" y="3549253"/>
            <a:ext cx="4837587"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B4E4E"/>
                </a:solidFill>
                <a:latin typeface="Overpass Light" pitchFamily="34" charset="0"/>
                <a:ea typeface="Overpass Light" pitchFamily="34" charset="-122"/>
                <a:cs typeface="Overpass Light" pitchFamily="34" charset="-120"/>
              </a:rPr>
              <a:t>Fixed monitoring stations are sparse and cannot provide location-specific data across diverse urban zones.</a:t>
            </a:r>
            <a:endParaRPr lang="en-US" sz="11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5053" y="4311154"/>
            <a:ext cx="5251517" cy="1164927"/>
          </a:xfrm>
          <a:prstGeom prst="rect">
            <a:avLst/>
          </a:prstGeom>
        </p:spPr>
      </p:pic>
      <p:sp>
        <p:nvSpPr>
          <p:cNvPr id="14" name="Text 9"/>
          <p:cNvSpPr/>
          <p:nvPr/>
        </p:nvSpPr>
        <p:spPr>
          <a:xfrm>
            <a:off x="6530117" y="4480024"/>
            <a:ext cx="4837587" cy="234156"/>
          </a:xfrm>
          <a:prstGeom prst="rect">
            <a:avLst/>
          </a:prstGeom>
          <a:noFill/>
          <a:ln/>
        </p:spPr>
        <p:txBody>
          <a:bodyPr wrap="none" lIns="0" tIns="0" rIns="0" bIns="0" rtlCol="0" anchor="t"/>
          <a:lstStyle/>
          <a:p>
            <a:pPr marL="0" indent="0" algn="l">
              <a:lnSpc>
                <a:spcPct val="104000"/>
              </a:lnSpc>
              <a:buNone/>
            </a:pPr>
            <a:r>
              <a:rPr lang="en-US" sz="1450" b="1" dirty="0">
                <a:solidFill>
                  <a:srgbClr val="3B4E4E"/>
                </a:solidFill>
                <a:latin typeface="Syne Bold" pitchFamily="34" charset="0"/>
                <a:ea typeface="Syne Bold" pitchFamily="34" charset="-122"/>
                <a:cs typeface="Syne Bold" pitchFamily="34" charset="-120"/>
              </a:rPr>
              <a:t>No Continuous Data</a:t>
            </a:r>
            <a:endParaRPr lang="en-US" sz="1450" dirty="0"/>
          </a:p>
        </p:txBody>
      </p:sp>
      <p:sp>
        <p:nvSpPr>
          <p:cNvPr id="15" name="Text 10"/>
          <p:cNvSpPr/>
          <p:nvPr/>
        </p:nvSpPr>
        <p:spPr>
          <a:xfrm>
            <a:off x="6530117" y="4850011"/>
            <a:ext cx="4837587"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B4E4E"/>
                </a:solidFill>
                <a:latin typeface="Overpass Light" pitchFamily="34" charset="0"/>
                <a:ea typeface="Overpass Light" pitchFamily="34" charset="-122"/>
                <a:cs typeface="Overpass Light" pitchFamily="34" charset="-120"/>
              </a:rPr>
              <a:t>Absence of real-time, continuous monitoring leaves authorities without the granular data needed for timely intervention.</a:t>
            </a:r>
            <a:endParaRPr lang="en-US" sz="1150" dirty="0"/>
          </a:p>
        </p:txBody>
      </p:sp>
      <p:sp>
        <p:nvSpPr>
          <p:cNvPr id="16" name="Shape 11"/>
          <p:cNvSpPr/>
          <p:nvPr/>
        </p:nvSpPr>
        <p:spPr>
          <a:xfrm>
            <a:off x="661475" y="5781675"/>
            <a:ext cx="10868745" cy="561479"/>
          </a:xfrm>
          <a:prstGeom prst="roundRect">
            <a:avLst>
              <a:gd name="adj" fmla="val 11212"/>
            </a:avLst>
          </a:prstGeom>
          <a:solidFill>
            <a:srgbClr val="FCF2B5"/>
          </a:solidFill>
          <a:ln/>
        </p:spPr>
      </p:sp>
      <p:pic>
        <p:nvPicPr>
          <p:cNvPr id="17" name="Image 3" descr="preencoded.png"/>
          <p:cNvPicPr>
            <a:picLocks noChangeAspect="1"/>
          </p:cNvPicPr>
          <p:nvPr/>
        </p:nvPicPr>
        <p:blipFill>
          <a:blip r:embed="rId4"/>
          <a:stretch>
            <a:fillRect/>
          </a:stretch>
        </p:blipFill>
        <p:spPr>
          <a:xfrm>
            <a:off x="811291" y="5976144"/>
            <a:ext cx="187320" cy="149820"/>
          </a:xfrm>
          <a:prstGeom prst="rect">
            <a:avLst/>
          </a:prstGeom>
        </p:spPr>
      </p:pic>
      <p:sp>
        <p:nvSpPr>
          <p:cNvPr id="18" name="Text 12"/>
          <p:cNvSpPr/>
          <p:nvPr/>
        </p:nvSpPr>
        <p:spPr>
          <a:xfrm>
            <a:off x="1148428" y="5954911"/>
            <a:ext cx="10841560" cy="228600"/>
          </a:xfrm>
          <a:prstGeom prst="rect">
            <a:avLst/>
          </a:prstGeom>
          <a:noFill/>
          <a:ln/>
        </p:spPr>
        <p:txBody>
          <a:bodyPr wrap="none" lIns="0" tIns="0" rIns="0" bIns="0" rtlCol="0" anchor="t"/>
          <a:lstStyle/>
          <a:p>
            <a:pPr marL="0" indent="0" algn="l">
              <a:lnSpc>
                <a:spcPct val="127000"/>
              </a:lnSpc>
              <a:buNone/>
            </a:pPr>
            <a:r>
              <a:rPr lang="en-US" sz="1150" dirty="0">
                <a:solidFill>
                  <a:srgbClr val="000000"/>
                </a:solidFill>
                <a:latin typeface="Overpass Light" pitchFamily="34" charset="0"/>
                <a:ea typeface="Overpass Light" pitchFamily="34" charset="-122"/>
                <a:cs typeface="Overpass Light" pitchFamily="34" charset="-120"/>
              </a:rPr>
              <a:t>There is a critical need for </a:t>
            </a:r>
            <a:r>
              <a:rPr lang="en-US" sz="1150" b="1" dirty="0">
                <a:solidFill>
                  <a:srgbClr val="000000"/>
                </a:solidFill>
                <a:latin typeface="Overpass Bold" pitchFamily="34" charset="0"/>
                <a:ea typeface="Overpass Bold" pitchFamily="34" charset="-122"/>
                <a:cs typeface="Overpass Bold" pitchFamily="34" charset="-120"/>
              </a:rPr>
              <a:t>continuous, location-specific noise data</a:t>
            </a:r>
            <a:r>
              <a:rPr lang="en-US" sz="1150" dirty="0">
                <a:solidFill>
                  <a:srgbClr val="000000"/>
                </a:solidFill>
                <a:latin typeface="Overpass Light" pitchFamily="34" charset="0"/>
                <a:ea typeface="Overpass Light" pitchFamily="34" charset="-122"/>
                <a:cs typeface="Overpass Light" pitchFamily="34" charset="-120"/>
              </a:rPr>
              <a:t> to enable effective urban environmental management.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73398"/>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233939"/>
                </a:solidFill>
                <a:latin typeface="Syne Bold" pitchFamily="34" charset="0"/>
                <a:ea typeface="Syne Bold" pitchFamily="34" charset="-122"/>
                <a:cs typeface="Syne Bold" pitchFamily="34" charset="-120"/>
              </a:rPr>
              <a:t>Proposed Solution</a:t>
            </a:r>
            <a:endParaRPr lang="en-US" sz="3250" dirty="0"/>
          </a:p>
        </p:txBody>
      </p:sp>
      <p:sp>
        <p:nvSpPr>
          <p:cNvPr id="3" name="Text 1"/>
          <p:cNvSpPr/>
          <p:nvPr/>
        </p:nvSpPr>
        <p:spPr>
          <a:xfrm>
            <a:off x="661475" y="1520825"/>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An </a:t>
            </a:r>
            <a:r>
              <a:rPr lang="en-US" sz="1300" b="1" dirty="0">
                <a:solidFill>
                  <a:srgbClr val="3B4E4E"/>
                </a:solidFill>
                <a:latin typeface="Overpass Bold" pitchFamily="34" charset="0"/>
                <a:ea typeface="Overpass Bold" pitchFamily="34" charset="-122"/>
                <a:cs typeface="Overpass Bold" pitchFamily="34" charset="-120"/>
              </a:rPr>
              <a:t>IoT-Based Urban Noise Pollution Monitoring System</a:t>
            </a:r>
            <a:r>
              <a:rPr lang="en-US" sz="1300" dirty="0">
                <a:solidFill>
                  <a:srgbClr val="3B4E4E"/>
                </a:solidFill>
                <a:latin typeface="Overpass Light" pitchFamily="34" charset="0"/>
                <a:ea typeface="Overpass Light" pitchFamily="34" charset="-122"/>
                <a:cs typeface="Overpass Light" pitchFamily="34" charset="-120"/>
              </a:rPr>
              <a:t> designed for continuous, real-time environmental noise measurement across multiple urban locations — delivering actionable intelligence to environmental authorities through a centralized cloud platform.</a:t>
            </a:r>
            <a:endParaRPr lang="en-US" sz="1300" dirty="0"/>
          </a:p>
        </p:txBody>
      </p:sp>
      <p:sp>
        <p:nvSpPr>
          <p:cNvPr id="4" name="Shape 2"/>
          <p:cNvSpPr/>
          <p:nvPr/>
        </p:nvSpPr>
        <p:spPr>
          <a:xfrm>
            <a:off x="661475" y="2236093"/>
            <a:ext cx="5351725" cy="1891605"/>
          </a:xfrm>
          <a:prstGeom prst="roundRect">
            <a:avLst>
              <a:gd name="adj" fmla="val 3672"/>
            </a:avLst>
          </a:prstGeom>
          <a:solidFill>
            <a:srgbClr val="DDEEE6"/>
          </a:solidFill>
          <a:ln w="6350">
            <a:solidFill>
              <a:srgbClr val="C3D4CC"/>
            </a:solidFill>
            <a:prstDash val="solid"/>
          </a:ln>
        </p:spPr>
      </p:sp>
      <p:sp>
        <p:nvSpPr>
          <p:cNvPr id="5" name="Shape 3"/>
          <p:cNvSpPr/>
          <p:nvPr/>
        </p:nvSpPr>
        <p:spPr>
          <a:xfrm>
            <a:off x="833119" y="2407741"/>
            <a:ext cx="496081" cy="496094"/>
          </a:xfrm>
          <a:prstGeom prst="ellipse">
            <a:avLst/>
          </a:prstGeom>
          <a:solidFill>
            <a:srgbClr val="224435"/>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9541" y="2544068"/>
            <a:ext cx="223237" cy="223242"/>
          </a:xfrm>
          <a:prstGeom prst="rect">
            <a:avLst/>
          </a:prstGeom>
        </p:spPr>
      </p:pic>
      <p:sp>
        <p:nvSpPr>
          <p:cNvPr id="7" name="Text 4"/>
          <p:cNvSpPr/>
          <p:nvPr/>
        </p:nvSpPr>
        <p:spPr>
          <a:xfrm>
            <a:off x="833119" y="3069134"/>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Continuous IoT Sensing</a:t>
            </a:r>
            <a:endParaRPr lang="en-US" sz="1600" dirty="0"/>
          </a:p>
        </p:txBody>
      </p:sp>
      <p:sp>
        <p:nvSpPr>
          <p:cNvPr id="8" name="Text 5"/>
          <p:cNvSpPr/>
          <p:nvPr/>
        </p:nvSpPr>
        <p:spPr>
          <a:xfrm>
            <a:off x="833119" y="3426817"/>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IoT sensors deployed across urban zones continuously measure environmental noise levels without interruption.</a:t>
            </a:r>
            <a:endParaRPr lang="en-US" sz="1300" dirty="0"/>
          </a:p>
        </p:txBody>
      </p:sp>
      <p:sp>
        <p:nvSpPr>
          <p:cNvPr id="9" name="Shape 6"/>
          <p:cNvSpPr/>
          <p:nvPr/>
        </p:nvSpPr>
        <p:spPr>
          <a:xfrm>
            <a:off x="6178495" y="2236093"/>
            <a:ext cx="5351725" cy="1891605"/>
          </a:xfrm>
          <a:prstGeom prst="roundRect">
            <a:avLst>
              <a:gd name="adj" fmla="val 3672"/>
            </a:avLst>
          </a:prstGeom>
          <a:solidFill>
            <a:srgbClr val="DDEEE6"/>
          </a:solidFill>
          <a:ln w="6350">
            <a:solidFill>
              <a:srgbClr val="C3D4CC"/>
            </a:solidFill>
            <a:prstDash val="solid"/>
          </a:ln>
        </p:spPr>
      </p:sp>
      <p:sp>
        <p:nvSpPr>
          <p:cNvPr id="10" name="Shape 7"/>
          <p:cNvSpPr/>
          <p:nvPr/>
        </p:nvSpPr>
        <p:spPr>
          <a:xfrm>
            <a:off x="6350139" y="2407741"/>
            <a:ext cx="496081" cy="496094"/>
          </a:xfrm>
          <a:prstGeom prst="ellipse">
            <a:avLst/>
          </a:prstGeom>
          <a:solidFill>
            <a:srgbClr val="224435"/>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86561" y="2544068"/>
            <a:ext cx="223237" cy="223242"/>
          </a:xfrm>
          <a:prstGeom prst="rect">
            <a:avLst/>
          </a:prstGeom>
        </p:spPr>
      </p:pic>
      <p:sp>
        <p:nvSpPr>
          <p:cNvPr id="12" name="Text 8"/>
          <p:cNvSpPr/>
          <p:nvPr/>
        </p:nvSpPr>
        <p:spPr>
          <a:xfrm>
            <a:off x="6350139" y="3069134"/>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Cloud-Based Monitoring</a:t>
            </a:r>
            <a:endParaRPr lang="en-US" sz="1600" dirty="0"/>
          </a:p>
        </p:txBody>
      </p:sp>
      <p:sp>
        <p:nvSpPr>
          <p:cNvPr id="13" name="Text 9"/>
          <p:cNvSpPr/>
          <p:nvPr/>
        </p:nvSpPr>
        <p:spPr>
          <a:xfrm>
            <a:off x="6350139" y="3426817"/>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All sensor data is transmitted to a centralized cloud platform, enabling unified environmental data collection and storage.</a:t>
            </a:r>
            <a:endParaRPr lang="en-US" sz="1300" dirty="0"/>
          </a:p>
        </p:txBody>
      </p:sp>
      <p:sp>
        <p:nvSpPr>
          <p:cNvPr id="14" name="Shape 10"/>
          <p:cNvSpPr/>
          <p:nvPr/>
        </p:nvSpPr>
        <p:spPr>
          <a:xfrm>
            <a:off x="661475" y="4292997"/>
            <a:ext cx="5351725" cy="1891605"/>
          </a:xfrm>
          <a:prstGeom prst="roundRect">
            <a:avLst>
              <a:gd name="adj" fmla="val 3672"/>
            </a:avLst>
          </a:prstGeom>
          <a:solidFill>
            <a:srgbClr val="DDEEE6"/>
          </a:solidFill>
          <a:ln w="6350">
            <a:solidFill>
              <a:srgbClr val="C3D4CC"/>
            </a:solidFill>
            <a:prstDash val="solid"/>
          </a:ln>
        </p:spPr>
      </p:sp>
      <p:sp>
        <p:nvSpPr>
          <p:cNvPr id="15" name="Shape 11"/>
          <p:cNvSpPr/>
          <p:nvPr/>
        </p:nvSpPr>
        <p:spPr>
          <a:xfrm>
            <a:off x="833119" y="4464645"/>
            <a:ext cx="496081" cy="496094"/>
          </a:xfrm>
          <a:prstGeom prst="ellipse">
            <a:avLst/>
          </a:prstGeom>
          <a:solidFill>
            <a:srgbClr val="224435"/>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9541" y="4600972"/>
            <a:ext cx="223237" cy="223242"/>
          </a:xfrm>
          <a:prstGeom prst="rect">
            <a:avLst/>
          </a:prstGeom>
        </p:spPr>
      </p:pic>
      <p:sp>
        <p:nvSpPr>
          <p:cNvPr id="17" name="Text 12"/>
          <p:cNvSpPr/>
          <p:nvPr/>
        </p:nvSpPr>
        <p:spPr>
          <a:xfrm>
            <a:off x="833119" y="5126038"/>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Real-Time Analysis</a:t>
            </a:r>
            <a:endParaRPr lang="en-US" sz="1600" dirty="0"/>
          </a:p>
        </p:txBody>
      </p:sp>
      <p:sp>
        <p:nvSpPr>
          <p:cNvPr id="18" name="Text 13"/>
          <p:cNvSpPr/>
          <p:nvPr/>
        </p:nvSpPr>
        <p:spPr>
          <a:xfrm>
            <a:off x="833119" y="5483721"/>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Data is processed and analyzed in real time, providing up-to-the-moment environmental noise intelligence.</a:t>
            </a:r>
            <a:endParaRPr lang="en-US" sz="1300" dirty="0"/>
          </a:p>
        </p:txBody>
      </p:sp>
      <p:sp>
        <p:nvSpPr>
          <p:cNvPr id="19" name="Shape 14"/>
          <p:cNvSpPr/>
          <p:nvPr/>
        </p:nvSpPr>
        <p:spPr>
          <a:xfrm>
            <a:off x="6178495" y="4292997"/>
            <a:ext cx="5351725" cy="1891605"/>
          </a:xfrm>
          <a:prstGeom prst="roundRect">
            <a:avLst>
              <a:gd name="adj" fmla="val 3672"/>
            </a:avLst>
          </a:prstGeom>
          <a:solidFill>
            <a:srgbClr val="DDEEE6"/>
          </a:solidFill>
          <a:ln w="6350">
            <a:solidFill>
              <a:srgbClr val="C3D4CC"/>
            </a:solidFill>
            <a:prstDash val="solid"/>
          </a:ln>
        </p:spPr>
      </p:sp>
      <p:sp>
        <p:nvSpPr>
          <p:cNvPr id="20" name="Shape 15"/>
          <p:cNvSpPr/>
          <p:nvPr/>
        </p:nvSpPr>
        <p:spPr>
          <a:xfrm>
            <a:off x="6350139" y="4464645"/>
            <a:ext cx="496081" cy="496094"/>
          </a:xfrm>
          <a:prstGeom prst="ellipse">
            <a:avLst/>
          </a:prstGeom>
          <a:solidFill>
            <a:srgbClr val="224435"/>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86561" y="4600972"/>
            <a:ext cx="223237" cy="223242"/>
          </a:xfrm>
          <a:prstGeom prst="rect">
            <a:avLst/>
          </a:prstGeom>
        </p:spPr>
      </p:pic>
      <p:sp>
        <p:nvSpPr>
          <p:cNvPr id="22" name="Text 16"/>
          <p:cNvSpPr/>
          <p:nvPr/>
        </p:nvSpPr>
        <p:spPr>
          <a:xfrm>
            <a:off x="6350139" y="5126038"/>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Actionable Information</a:t>
            </a:r>
            <a:endParaRPr lang="en-US" sz="1600" dirty="0"/>
          </a:p>
        </p:txBody>
      </p:sp>
      <p:sp>
        <p:nvSpPr>
          <p:cNvPr id="23" name="Text 17"/>
          <p:cNvSpPr/>
          <p:nvPr/>
        </p:nvSpPr>
        <p:spPr>
          <a:xfrm>
            <a:off x="6350139" y="5483721"/>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Environmental authorities receive clear, usable insights to support informed decision-making and rapid response.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1473"/>
            <a:ext cx="10868745" cy="476448"/>
          </a:xfrm>
          <a:prstGeom prst="rect">
            <a:avLst/>
          </a:prstGeom>
          <a:noFill/>
          <a:ln/>
        </p:spPr>
        <p:txBody>
          <a:bodyPr wrap="none" lIns="0" tIns="0" rIns="0" bIns="0" rtlCol="0" anchor="t"/>
          <a:lstStyle/>
          <a:p>
            <a:pPr marL="0" indent="0" algn="l">
              <a:lnSpc>
                <a:spcPct val="104000"/>
              </a:lnSpc>
              <a:buNone/>
            </a:pPr>
            <a:r>
              <a:rPr lang="en-US" sz="3000" b="1" dirty="0">
                <a:solidFill>
                  <a:srgbClr val="233939"/>
                </a:solidFill>
                <a:latin typeface="Syne Bold" pitchFamily="34" charset="0"/>
                <a:ea typeface="Syne Bold" pitchFamily="34" charset="-122"/>
                <a:cs typeface="Syne Bold" pitchFamily="34" charset="-120"/>
              </a:rPr>
              <a:t>System Objectives</a:t>
            </a:r>
            <a:endParaRPr lang="en-US" sz="3000" dirty="0"/>
          </a:p>
        </p:txBody>
      </p:sp>
      <p:sp>
        <p:nvSpPr>
          <p:cNvPr id="3" name="Text 1"/>
          <p:cNvSpPr/>
          <p:nvPr/>
        </p:nvSpPr>
        <p:spPr>
          <a:xfrm>
            <a:off x="661475" y="1339255"/>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233939"/>
                </a:solidFill>
                <a:latin typeface="Syne Bold" pitchFamily="34" charset="0"/>
                <a:ea typeface="Syne Bold" pitchFamily="34" charset="-122"/>
                <a:cs typeface="Syne Bold" pitchFamily="34" charset="-120"/>
              </a:rPr>
              <a:t>Core Measurement Objectives</a:t>
            </a:r>
            <a:endParaRPr lang="en-US" sz="1500" dirty="0"/>
          </a:p>
        </p:txBody>
      </p:sp>
      <p:sp>
        <p:nvSpPr>
          <p:cNvPr id="4" name="Shape 2"/>
          <p:cNvSpPr/>
          <p:nvPr/>
        </p:nvSpPr>
        <p:spPr>
          <a:xfrm>
            <a:off x="661475" y="1735534"/>
            <a:ext cx="342991" cy="342999"/>
          </a:xfrm>
          <a:prstGeom prst="roundRect">
            <a:avLst>
              <a:gd name="adj" fmla="val 18670"/>
            </a:avLst>
          </a:prstGeom>
          <a:solidFill>
            <a:srgbClr val="DDEEE6"/>
          </a:solidFill>
          <a:ln w="6350">
            <a:solidFill>
              <a:srgbClr val="C3D4CC"/>
            </a:solidFill>
            <a:prstDash val="solid"/>
          </a:ln>
        </p:spPr>
      </p:sp>
      <p:sp>
        <p:nvSpPr>
          <p:cNvPr id="5" name="Text 3"/>
          <p:cNvSpPr/>
          <p:nvPr/>
        </p:nvSpPr>
        <p:spPr>
          <a:xfrm>
            <a:off x="718574" y="17640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1</a:t>
            </a:r>
            <a:endParaRPr lang="en-US" sz="1800" dirty="0"/>
          </a:p>
        </p:txBody>
      </p:sp>
      <p:sp>
        <p:nvSpPr>
          <p:cNvPr id="6" name="Text 4"/>
          <p:cNvSpPr/>
          <p:nvPr/>
        </p:nvSpPr>
        <p:spPr>
          <a:xfrm>
            <a:off x="1144956" y="17879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Continuously Measure Noise Levels</a:t>
            </a:r>
            <a:endParaRPr lang="en-US" sz="1500" dirty="0"/>
          </a:p>
        </p:txBody>
      </p:sp>
      <p:sp>
        <p:nvSpPr>
          <p:cNvPr id="7" name="Text 5"/>
          <p:cNvSpPr/>
          <p:nvPr/>
        </p:nvSpPr>
        <p:spPr>
          <a:xfrm>
            <a:off x="1144956" y="21666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Uninterrupted environmental noise measurement across all deployed sensor nodes.</a:t>
            </a:r>
            <a:endParaRPr lang="en-US" sz="1200" dirty="0"/>
          </a:p>
        </p:txBody>
      </p:sp>
      <p:sp>
        <p:nvSpPr>
          <p:cNvPr id="8" name="Shape 6"/>
          <p:cNvSpPr/>
          <p:nvPr/>
        </p:nvSpPr>
        <p:spPr>
          <a:xfrm>
            <a:off x="661475" y="2916634"/>
            <a:ext cx="342991" cy="342999"/>
          </a:xfrm>
          <a:prstGeom prst="roundRect">
            <a:avLst>
              <a:gd name="adj" fmla="val 18670"/>
            </a:avLst>
          </a:prstGeom>
          <a:solidFill>
            <a:srgbClr val="DDEEE6"/>
          </a:solidFill>
          <a:ln w="6350">
            <a:solidFill>
              <a:srgbClr val="C3D4CC"/>
            </a:solidFill>
            <a:prstDash val="solid"/>
          </a:ln>
        </p:spPr>
      </p:sp>
      <p:sp>
        <p:nvSpPr>
          <p:cNvPr id="9" name="Text 7"/>
          <p:cNvSpPr/>
          <p:nvPr/>
        </p:nvSpPr>
        <p:spPr>
          <a:xfrm>
            <a:off x="718574" y="29451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2</a:t>
            </a:r>
            <a:endParaRPr lang="en-US" sz="1800" dirty="0"/>
          </a:p>
        </p:txBody>
      </p:sp>
      <p:sp>
        <p:nvSpPr>
          <p:cNvPr id="10" name="Text 8"/>
          <p:cNvSpPr/>
          <p:nvPr/>
        </p:nvSpPr>
        <p:spPr>
          <a:xfrm>
            <a:off x="1144956" y="29690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Collect Multi-Location Data</a:t>
            </a:r>
            <a:endParaRPr lang="en-US" sz="1500" dirty="0"/>
          </a:p>
        </p:txBody>
      </p:sp>
      <p:sp>
        <p:nvSpPr>
          <p:cNvPr id="11" name="Text 9"/>
          <p:cNvSpPr/>
          <p:nvPr/>
        </p:nvSpPr>
        <p:spPr>
          <a:xfrm>
            <a:off x="1144956" y="33477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Aggregate data from multiple urban locations into a single, unified system.</a:t>
            </a:r>
            <a:endParaRPr lang="en-US" sz="1200" dirty="0"/>
          </a:p>
        </p:txBody>
      </p:sp>
      <p:sp>
        <p:nvSpPr>
          <p:cNvPr id="12" name="Shape 10"/>
          <p:cNvSpPr/>
          <p:nvPr/>
        </p:nvSpPr>
        <p:spPr>
          <a:xfrm>
            <a:off x="661475" y="4097734"/>
            <a:ext cx="342991" cy="342999"/>
          </a:xfrm>
          <a:prstGeom prst="roundRect">
            <a:avLst>
              <a:gd name="adj" fmla="val 18670"/>
            </a:avLst>
          </a:prstGeom>
          <a:solidFill>
            <a:srgbClr val="DDEEE6"/>
          </a:solidFill>
          <a:ln w="6350">
            <a:solidFill>
              <a:srgbClr val="C3D4CC"/>
            </a:solidFill>
            <a:prstDash val="solid"/>
          </a:ln>
        </p:spPr>
      </p:sp>
      <p:sp>
        <p:nvSpPr>
          <p:cNvPr id="13" name="Text 11"/>
          <p:cNvSpPr/>
          <p:nvPr/>
        </p:nvSpPr>
        <p:spPr>
          <a:xfrm>
            <a:off x="718574" y="41262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3</a:t>
            </a:r>
            <a:endParaRPr lang="en-US" sz="1800" dirty="0"/>
          </a:p>
        </p:txBody>
      </p:sp>
      <p:sp>
        <p:nvSpPr>
          <p:cNvPr id="14" name="Text 12"/>
          <p:cNvSpPr/>
          <p:nvPr/>
        </p:nvSpPr>
        <p:spPr>
          <a:xfrm>
            <a:off x="1144956" y="41501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Record Location-Specific Information</a:t>
            </a:r>
            <a:endParaRPr lang="en-US" sz="1500" dirty="0"/>
          </a:p>
        </p:txBody>
      </p:sp>
      <p:sp>
        <p:nvSpPr>
          <p:cNvPr id="15" name="Text 13"/>
          <p:cNvSpPr/>
          <p:nvPr/>
        </p:nvSpPr>
        <p:spPr>
          <a:xfrm>
            <a:off x="1144956" y="45288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Associate every measurement with precise GPS coordinates for spatial analysis.</a:t>
            </a:r>
            <a:endParaRPr lang="en-US" sz="1200" dirty="0"/>
          </a:p>
        </p:txBody>
      </p:sp>
      <p:sp>
        <p:nvSpPr>
          <p:cNvPr id="16" name="Text 14"/>
          <p:cNvSpPr/>
          <p:nvPr/>
        </p:nvSpPr>
        <p:spPr>
          <a:xfrm>
            <a:off x="6288129" y="1339255"/>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233939"/>
                </a:solidFill>
                <a:latin typeface="Syne Bold" pitchFamily="34" charset="0"/>
                <a:ea typeface="Syne Bold" pitchFamily="34" charset="-122"/>
                <a:cs typeface="Syne Bold" pitchFamily="34" charset="-120"/>
              </a:rPr>
              <a:t>Platform &amp; Authority Objectives</a:t>
            </a:r>
            <a:endParaRPr lang="en-US" sz="1500" dirty="0"/>
          </a:p>
        </p:txBody>
      </p:sp>
      <p:sp>
        <p:nvSpPr>
          <p:cNvPr id="17" name="Shape 15"/>
          <p:cNvSpPr/>
          <p:nvPr/>
        </p:nvSpPr>
        <p:spPr>
          <a:xfrm>
            <a:off x="6288129" y="1735534"/>
            <a:ext cx="342991" cy="342999"/>
          </a:xfrm>
          <a:prstGeom prst="roundRect">
            <a:avLst>
              <a:gd name="adj" fmla="val 18670"/>
            </a:avLst>
          </a:prstGeom>
          <a:solidFill>
            <a:srgbClr val="DDEEE6"/>
          </a:solidFill>
          <a:ln w="6350">
            <a:solidFill>
              <a:srgbClr val="C3D4CC"/>
            </a:solidFill>
            <a:prstDash val="solid"/>
          </a:ln>
        </p:spPr>
      </p:sp>
      <p:sp>
        <p:nvSpPr>
          <p:cNvPr id="18" name="Text 16"/>
          <p:cNvSpPr/>
          <p:nvPr/>
        </p:nvSpPr>
        <p:spPr>
          <a:xfrm>
            <a:off x="6345228" y="17640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1</a:t>
            </a:r>
            <a:endParaRPr lang="en-US" sz="1800" dirty="0"/>
          </a:p>
        </p:txBody>
      </p:sp>
      <p:sp>
        <p:nvSpPr>
          <p:cNvPr id="19" name="Text 17"/>
          <p:cNvSpPr/>
          <p:nvPr/>
        </p:nvSpPr>
        <p:spPr>
          <a:xfrm>
            <a:off x="6771610" y="17879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Analyze Noise Pollution in Real Time</a:t>
            </a:r>
            <a:endParaRPr lang="en-US" sz="1500" dirty="0"/>
          </a:p>
        </p:txBody>
      </p:sp>
      <p:sp>
        <p:nvSpPr>
          <p:cNvPr id="20" name="Text 18"/>
          <p:cNvSpPr/>
          <p:nvPr/>
        </p:nvSpPr>
        <p:spPr>
          <a:xfrm>
            <a:off x="6771610" y="21666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Process incoming data streams immediately to identify pollution events as they occur.</a:t>
            </a:r>
            <a:endParaRPr lang="en-US" sz="1200" dirty="0"/>
          </a:p>
        </p:txBody>
      </p:sp>
      <p:sp>
        <p:nvSpPr>
          <p:cNvPr id="21" name="Shape 19"/>
          <p:cNvSpPr/>
          <p:nvPr/>
        </p:nvSpPr>
        <p:spPr>
          <a:xfrm>
            <a:off x="6288129" y="2916634"/>
            <a:ext cx="342991" cy="342999"/>
          </a:xfrm>
          <a:prstGeom prst="roundRect">
            <a:avLst>
              <a:gd name="adj" fmla="val 18670"/>
            </a:avLst>
          </a:prstGeom>
          <a:solidFill>
            <a:srgbClr val="DDEEE6"/>
          </a:solidFill>
          <a:ln w="6350">
            <a:solidFill>
              <a:srgbClr val="C3D4CC"/>
            </a:solidFill>
            <a:prstDash val="solid"/>
          </a:ln>
        </p:spPr>
      </p:sp>
      <p:sp>
        <p:nvSpPr>
          <p:cNvPr id="22" name="Text 20"/>
          <p:cNvSpPr/>
          <p:nvPr/>
        </p:nvSpPr>
        <p:spPr>
          <a:xfrm>
            <a:off x="6345228" y="29451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2</a:t>
            </a:r>
            <a:endParaRPr lang="en-US" sz="1800" dirty="0"/>
          </a:p>
        </p:txBody>
      </p:sp>
      <p:sp>
        <p:nvSpPr>
          <p:cNvPr id="23" name="Text 21"/>
          <p:cNvSpPr/>
          <p:nvPr/>
        </p:nvSpPr>
        <p:spPr>
          <a:xfrm>
            <a:off x="6771610" y="29690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Maintain Historical Records</a:t>
            </a:r>
            <a:endParaRPr lang="en-US" sz="1500" dirty="0"/>
          </a:p>
        </p:txBody>
      </p:sp>
      <p:sp>
        <p:nvSpPr>
          <p:cNvPr id="24" name="Text 22"/>
          <p:cNvSpPr/>
          <p:nvPr/>
        </p:nvSpPr>
        <p:spPr>
          <a:xfrm>
            <a:off x="6771610" y="33477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Store longitudinal noise data to support trend analysis and regulatory reporting.</a:t>
            </a:r>
            <a:endParaRPr lang="en-US" sz="1200" dirty="0"/>
          </a:p>
        </p:txBody>
      </p:sp>
      <p:sp>
        <p:nvSpPr>
          <p:cNvPr id="25" name="Shape 23"/>
          <p:cNvSpPr/>
          <p:nvPr/>
        </p:nvSpPr>
        <p:spPr>
          <a:xfrm>
            <a:off x="6288129" y="4097734"/>
            <a:ext cx="342991" cy="342999"/>
          </a:xfrm>
          <a:prstGeom prst="roundRect">
            <a:avLst>
              <a:gd name="adj" fmla="val 18670"/>
            </a:avLst>
          </a:prstGeom>
          <a:solidFill>
            <a:srgbClr val="DDEEE6"/>
          </a:solidFill>
          <a:ln w="6350">
            <a:solidFill>
              <a:srgbClr val="C3D4CC"/>
            </a:solidFill>
            <a:prstDash val="solid"/>
          </a:ln>
        </p:spPr>
      </p:sp>
      <p:sp>
        <p:nvSpPr>
          <p:cNvPr id="26" name="Text 24"/>
          <p:cNvSpPr/>
          <p:nvPr/>
        </p:nvSpPr>
        <p:spPr>
          <a:xfrm>
            <a:off x="6345228" y="41262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3</a:t>
            </a:r>
            <a:endParaRPr lang="en-US" sz="1800" dirty="0"/>
          </a:p>
        </p:txBody>
      </p:sp>
      <p:sp>
        <p:nvSpPr>
          <p:cNvPr id="27" name="Text 25"/>
          <p:cNvSpPr/>
          <p:nvPr/>
        </p:nvSpPr>
        <p:spPr>
          <a:xfrm>
            <a:off x="6771610" y="41501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Generate Threshold Alerts</a:t>
            </a:r>
            <a:endParaRPr lang="en-US" sz="1500" dirty="0"/>
          </a:p>
        </p:txBody>
      </p:sp>
      <p:sp>
        <p:nvSpPr>
          <p:cNvPr id="28" name="Text 26"/>
          <p:cNvSpPr/>
          <p:nvPr/>
        </p:nvSpPr>
        <p:spPr>
          <a:xfrm>
            <a:off x="6771610" y="45288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Automatically notify authorities when noise levels exceed permissible environmental limits.</a:t>
            </a:r>
            <a:endParaRPr lang="en-US" sz="1200" dirty="0"/>
          </a:p>
        </p:txBody>
      </p:sp>
      <p:sp>
        <p:nvSpPr>
          <p:cNvPr id="29" name="Shape 27"/>
          <p:cNvSpPr/>
          <p:nvPr/>
        </p:nvSpPr>
        <p:spPr>
          <a:xfrm>
            <a:off x="6288129" y="5155803"/>
            <a:ext cx="5248441" cy="1032570"/>
          </a:xfrm>
          <a:prstGeom prst="roundRect">
            <a:avLst>
              <a:gd name="adj" fmla="val 6202"/>
            </a:avLst>
          </a:prstGeom>
          <a:solidFill>
            <a:srgbClr val="DDEEE6"/>
          </a:solidFill>
          <a:ln/>
        </p:spPr>
      </p:sp>
      <p:pic>
        <p:nvPicPr>
          <p:cNvPr id="30" name="Image 0" descr="preencoded.png"/>
          <p:cNvPicPr>
            <a:picLocks noChangeAspect="1"/>
          </p:cNvPicPr>
          <p:nvPr/>
        </p:nvPicPr>
        <p:blipFill>
          <a:blip r:embed="rId3"/>
          <a:stretch>
            <a:fillRect/>
          </a:stretch>
        </p:blipFill>
        <p:spPr>
          <a:xfrm>
            <a:off x="6440525" y="5353447"/>
            <a:ext cx="190495" cy="152400"/>
          </a:xfrm>
          <a:prstGeom prst="rect">
            <a:avLst/>
          </a:prstGeom>
        </p:spPr>
      </p:pic>
      <p:sp>
        <p:nvSpPr>
          <p:cNvPr id="31" name="Text 28"/>
          <p:cNvSpPr/>
          <p:nvPr/>
        </p:nvSpPr>
        <p:spPr>
          <a:xfrm>
            <a:off x="6783416" y="5320407"/>
            <a:ext cx="4600758" cy="703362"/>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000000"/>
                </a:solidFill>
                <a:latin typeface="Overpass Light" pitchFamily="34" charset="0"/>
                <a:ea typeface="Overpass Light" pitchFamily="34" charset="-122"/>
                <a:cs typeface="Overpass Light" pitchFamily="34" charset="-120"/>
              </a:rPr>
              <a:t>Provide authorities with an </a:t>
            </a:r>
            <a:r>
              <a:rPr lang="en-US" sz="1200" b="1" dirty="0">
                <a:solidFill>
                  <a:srgbClr val="000000"/>
                </a:solidFill>
                <a:latin typeface="Overpass Bold" pitchFamily="34" charset="0"/>
                <a:ea typeface="Overpass Bold" pitchFamily="34" charset="-122"/>
                <a:cs typeface="Overpass Bold" pitchFamily="34" charset="-120"/>
              </a:rPr>
              <a:t>easy-to-use monitoring platform</a:t>
            </a:r>
            <a:r>
              <a:rPr lang="en-US" sz="1200" dirty="0">
                <a:solidFill>
                  <a:srgbClr val="000000"/>
                </a:solidFill>
                <a:latin typeface="Overpass Light" pitchFamily="34" charset="0"/>
                <a:ea typeface="Overpass Light" pitchFamily="34" charset="-122"/>
                <a:cs typeface="Overpass Light" pitchFamily="34" charset="-120"/>
              </a:rPr>
              <a:t> that consolidates all data, alerts, and analytics in one accessible interface.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233939"/>
                </a:solidFill>
                <a:latin typeface="Syne Bold" pitchFamily="34" charset="0"/>
                <a:ea typeface="Syne Bold" pitchFamily="34" charset="-122"/>
                <a:cs typeface="Syne Bold" pitchFamily="34" charset="-120"/>
              </a:rPr>
              <a:t>System Architecture</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The system follows a layered pipeline architecture — from physical sensing at urban locations through to centralized analysis and visualization. Each layer is purpose-built for reliability, scalability, and real-time performance.</a:t>
            </a:r>
            <a:endParaRPr lang="en-US" sz="650" dirty="0"/>
          </a:p>
        </p:txBody>
      </p:sp>
      <p:pic>
        <p:nvPicPr>
          <p:cNvPr id="4" name="Image 0" descr="preencoded.png"/>
          <p:cNvPicPr>
            <a:picLocks noChangeAspect="1"/>
          </p:cNvPicPr>
          <p:nvPr/>
        </p:nvPicPr>
        <p:blipFill>
          <a:blip r:embed="rId3"/>
          <a:stretch>
            <a:fillRect/>
          </a:stretch>
        </p:blipFill>
        <p:spPr>
          <a:xfrm>
            <a:off x="1247645" y="941487"/>
            <a:ext cx="9696406" cy="5298678"/>
          </a:xfrm>
          <a:prstGeom prst="rect">
            <a:avLst/>
          </a:prstGeom>
        </p:spPr>
      </p:pic>
      <p:sp>
        <p:nvSpPr>
          <p:cNvPr id="5" name="Text 2"/>
          <p:cNvSpPr/>
          <p:nvPr/>
        </p:nvSpPr>
        <p:spPr>
          <a:xfrm>
            <a:off x="2526245" y="3424232"/>
            <a:ext cx="2246753" cy="305688"/>
          </a:xfrm>
          <a:prstGeom prst="rect">
            <a:avLst/>
          </a:prstGeom>
          <a:noFill/>
          <a:ln/>
        </p:spPr>
        <p:txBody>
          <a:bodyPr wrap="none" lIns="0" tIns="0" rIns="0" bIns="0" rtlCol="0" anchor="t"/>
          <a:lstStyle/>
          <a:p>
            <a:pPr marL="0" indent="0" algn="ctr">
              <a:lnSpc>
                <a:spcPct val="104000"/>
              </a:lnSpc>
              <a:buNone/>
            </a:pPr>
            <a:r>
              <a:rPr lang="en-US" sz="1900" b="1" dirty="0">
                <a:solidFill>
                  <a:srgbClr val="233939"/>
                </a:solidFill>
                <a:latin typeface="Syne Bold" pitchFamily="34" charset="0"/>
                <a:ea typeface="Syne Bold" pitchFamily="34" charset="-122"/>
                <a:cs typeface="Syne Bold" pitchFamily="34" charset="-120"/>
              </a:rPr>
              <a:t>Sound Sensors</a:t>
            </a:r>
            <a:endParaRPr lang="en-US" sz="1900" dirty="0"/>
          </a:p>
        </p:txBody>
      </p:sp>
      <p:sp>
        <p:nvSpPr>
          <p:cNvPr id="6" name="Text 3"/>
          <p:cNvSpPr/>
          <p:nvPr/>
        </p:nvSpPr>
        <p:spPr>
          <a:xfrm>
            <a:off x="8199678" y="3389757"/>
            <a:ext cx="2246753" cy="305688"/>
          </a:xfrm>
          <a:prstGeom prst="rect">
            <a:avLst/>
          </a:prstGeom>
          <a:noFill/>
          <a:ln/>
        </p:spPr>
        <p:txBody>
          <a:bodyPr wrap="none" lIns="0" tIns="0" rIns="0" bIns="0" rtlCol="0" anchor="t"/>
          <a:lstStyle/>
          <a:p>
            <a:pPr marL="0" indent="0" algn="ctr">
              <a:lnSpc>
                <a:spcPct val="104000"/>
              </a:lnSpc>
              <a:buNone/>
            </a:pPr>
            <a:r>
              <a:rPr lang="en-US" sz="1900" b="1" dirty="0">
                <a:solidFill>
                  <a:srgbClr val="233939"/>
                </a:solidFill>
                <a:latin typeface="Syne Bold" pitchFamily="34" charset="0"/>
                <a:ea typeface="Syne Bold" pitchFamily="34" charset="-122"/>
                <a:cs typeface="Syne Bold" pitchFamily="34" charset="-120"/>
              </a:rPr>
              <a:t>IoT Module</a:t>
            </a:r>
            <a:endParaRPr lang="en-US" sz="1900" dirty="0"/>
          </a:p>
        </p:txBody>
      </p:sp>
      <p:sp>
        <p:nvSpPr>
          <p:cNvPr id="7" name="Text 4"/>
          <p:cNvSpPr/>
          <p:nvPr/>
        </p:nvSpPr>
        <p:spPr>
          <a:xfrm>
            <a:off x="5428174" y="3400796"/>
            <a:ext cx="2246753" cy="305688"/>
          </a:xfrm>
          <a:prstGeom prst="rect">
            <a:avLst/>
          </a:prstGeom>
          <a:noFill/>
          <a:ln/>
        </p:spPr>
        <p:txBody>
          <a:bodyPr wrap="none" lIns="0" tIns="0" rIns="0" bIns="0" rtlCol="0" anchor="t"/>
          <a:lstStyle/>
          <a:p>
            <a:pPr marL="0" indent="0" algn="ctr">
              <a:lnSpc>
                <a:spcPct val="104000"/>
              </a:lnSpc>
              <a:buNone/>
            </a:pPr>
            <a:r>
              <a:rPr lang="en-US" sz="1900" b="1" dirty="0">
                <a:solidFill>
                  <a:srgbClr val="233939"/>
                </a:solidFill>
                <a:latin typeface="Syne Bold" pitchFamily="34" charset="0"/>
                <a:ea typeface="Syne Bold" pitchFamily="34" charset="-122"/>
                <a:cs typeface="Syne Bold" pitchFamily="34" charset="-120"/>
              </a:rPr>
              <a:t>Cloud Platform</a:t>
            </a:r>
            <a:endParaRPr lang="en-US" sz="1900" dirty="0"/>
          </a:p>
        </p:txBody>
      </p:sp>
      <p:sp>
        <p:nvSpPr>
          <p:cNvPr id="8" name="Text 5"/>
          <p:cNvSpPr/>
          <p:nvPr/>
        </p:nvSpPr>
        <p:spPr>
          <a:xfrm>
            <a:off x="661475" y="6286599"/>
            <a:ext cx="10868745"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GPS technology is embedded at the sensor layer, associating every measurement with a precise geographic coordinate. Cloud connectivity ensures continuous, uninterrupted data transmission from physical monitoring locations to the centralized platform, where processing and analysis occur before results are surfaced on the dashboard.</a:t>
            </a:r>
            <a:endParaRPr lang="en-US" sz="650" dirty="0"/>
          </a:p>
        </p:txBody>
      </p:sp>
      <p:sp>
        <p:nvSpPr>
          <p:cNvPr id="9" name="Text 6"/>
          <p:cNvSpPr/>
          <p:nvPr/>
        </p:nvSpPr>
        <p:spPr>
          <a:xfrm>
            <a:off x="661475" y="6639322"/>
            <a:ext cx="3588454"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Sound Level Sensors</a:t>
            </a:r>
            <a:endParaRPr lang="en-US" sz="800" dirty="0"/>
          </a:p>
        </p:txBody>
      </p:sp>
      <p:sp>
        <p:nvSpPr>
          <p:cNvPr id="10" name="Text 7"/>
          <p:cNvSpPr/>
          <p:nvPr/>
        </p:nvSpPr>
        <p:spPr>
          <a:xfrm>
            <a:off x="661475" y="6793309"/>
            <a:ext cx="3588454"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Deployed at urban monitoring points; capture raw environmental noise data continuously.</a:t>
            </a:r>
            <a:endParaRPr lang="en-US" sz="650" dirty="0"/>
          </a:p>
        </p:txBody>
      </p:sp>
      <p:sp>
        <p:nvSpPr>
          <p:cNvPr id="11" name="Text 8"/>
          <p:cNvSpPr/>
          <p:nvPr/>
        </p:nvSpPr>
        <p:spPr>
          <a:xfrm>
            <a:off x="4301521" y="6639322"/>
            <a:ext cx="3588553"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IoT Communication Module</a:t>
            </a:r>
            <a:endParaRPr lang="en-US" sz="800" dirty="0"/>
          </a:p>
        </p:txBody>
      </p:sp>
      <p:sp>
        <p:nvSpPr>
          <p:cNvPr id="12" name="Text 9"/>
          <p:cNvSpPr/>
          <p:nvPr/>
        </p:nvSpPr>
        <p:spPr>
          <a:xfrm>
            <a:off x="4301521" y="6793309"/>
            <a:ext cx="3588553"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Transmits sensor readings and GPS coordinates to the cloud platform in real time.</a:t>
            </a:r>
            <a:endParaRPr lang="en-US" sz="650" dirty="0"/>
          </a:p>
        </p:txBody>
      </p:sp>
      <p:sp>
        <p:nvSpPr>
          <p:cNvPr id="13" name="Text 10"/>
          <p:cNvSpPr/>
          <p:nvPr/>
        </p:nvSpPr>
        <p:spPr>
          <a:xfrm>
            <a:off x="7941667" y="6639322"/>
            <a:ext cx="3588553"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Cloud Platform</a:t>
            </a:r>
            <a:endParaRPr lang="en-US" sz="800" dirty="0"/>
          </a:p>
        </p:txBody>
      </p:sp>
      <p:sp>
        <p:nvSpPr>
          <p:cNvPr id="14" name="Text 11"/>
          <p:cNvSpPr/>
          <p:nvPr/>
        </p:nvSpPr>
        <p:spPr>
          <a:xfrm>
            <a:off x="7941667" y="6793309"/>
            <a:ext cx="3588553"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Centralized infrastructure for data ingestion, storage, and coordination across all nodes.</a:t>
            </a:r>
            <a:endParaRPr lang="en-US" sz="650" dirty="0"/>
          </a:p>
        </p:txBody>
      </p:sp>
      <p:sp>
        <p:nvSpPr>
          <p:cNvPr id="15" name="Text 12"/>
          <p:cNvSpPr/>
          <p:nvPr/>
        </p:nvSpPr>
        <p:spPr>
          <a:xfrm>
            <a:off x="661475" y="7083127"/>
            <a:ext cx="5408576"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Data Processing &amp; Analysis</a:t>
            </a:r>
            <a:endParaRPr lang="en-US" sz="800" dirty="0"/>
          </a:p>
        </p:txBody>
      </p:sp>
      <p:sp>
        <p:nvSpPr>
          <p:cNvPr id="16" name="Text 13"/>
          <p:cNvSpPr/>
          <p:nvPr/>
        </p:nvSpPr>
        <p:spPr>
          <a:xfrm>
            <a:off x="661475" y="7237115"/>
            <a:ext cx="5408576"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Real-time analytics engine compares readings against thresholds and identifies trends.</a:t>
            </a:r>
            <a:endParaRPr lang="en-US" sz="650" dirty="0"/>
          </a:p>
        </p:txBody>
      </p:sp>
      <p:sp>
        <p:nvSpPr>
          <p:cNvPr id="17" name="Text 14"/>
          <p:cNvSpPr/>
          <p:nvPr/>
        </p:nvSpPr>
        <p:spPr>
          <a:xfrm>
            <a:off x="6121644" y="7083127"/>
            <a:ext cx="5408576"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Centralized Dashboard</a:t>
            </a:r>
            <a:endParaRPr lang="en-US" sz="800" dirty="0"/>
          </a:p>
        </p:txBody>
      </p:sp>
      <p:sp>
        <p:nvSpPr>
          <p:cNvPr id="18" name="Text 15"/>
          <p:cNvSpPr/>
          <p:nvPr/>
        </p:nvSpPr>
        <p:spPr>
          <a:xfrm>
            <a:off x="6121644" y="7237115"/>
            <a:ext cx="5408576"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User-facing interface presenting live data, historical records, and alerts to authorities.</a:t>
            </a:r>
            <a:endParaRPr lang="en-US" sz="650" dirty="0"/>
          </a:p>
        </p:txBody>
      </p:sp>
      <p:sp>
        <p:nvSpPr>
          <p:cNvPr id="19" name="Shape 16"/>
          <p:cNvSpPr/>
          <p:nvPr/>
        </p:nvSpPr>
        <p:spPr>
          <a:xfrm>
            <a:off x="648775" y="6531273"/>
            <a:ext cx="3613853" cy="25400"/>
          </a:xfrm>
          <a:prstGeom prst="rect">
            <a:avLst/>
          </a:prstGeom>
          <a:solidFill>
            <a:srgbClr val="224435"/>
          </a:solidFill>
          <a:ln/>
        </p:spPr>
      </p:sp>
      <p:sp>
        <p:nvSpPr>
          <p:cNvPr id="20" name="Shape 17"/>
          <p:cNvSpPr/>
          <p:nvPr/>
        </p:nvSpPr>
        <p:spPr>
          <a:xfrm>
            <a:off x="4288822" y="6531273"/>
            <a:ext cx="3613953" cy="25400"/>
          </a:xfrm>
          <a:prstGeom prst="rect">
            <a:avLst/>
          </a:prstGeom>
          <a:solidFill>
            <a:srgbClr val="224435"/>
          </a:solidFill>
          <a:ln/>
        </p:spPr>
      </p:sp>
      <p:sp>
        <p:nvSpPr>
          <p:cNvPr id="21" name="Shape 18"/>
          <p:cNvSpPr/>
          <p:nvPr/>
        </p:nvSpPr>
        <p:spPr>
          <a:xfrm>
            <a:off x="7928967" y="6531273"/>
            <a:ext cx="3613953" cy="25400"/>
          </a:xfrm>
          <a:prstGeom prst="rect">
            <a:avLst/>
          </a:prstGeom>
          <a:solidFill>
            <a:srgbClr val="224435"/>
          </a:solidFill>
          <a:ln/>
        </p:spPr>
      </p:sp>
      <p:sp>
        <p:nvSpPr>
          <p:cNvPr id="22" name="Shape 19"/>
          <p:cNvSpPr/>
          <p:nvPr/>
        </p:nvSpPr>
        <p:spPr>
          <a:xfrm>
            <a:off x="648775" y="6975078"/>
            <a:ext cx="5433976" cy="25400"/>
          </a:xfrm>
          <a:prstGeom prst="rect">
            <a:avLst/>
          </a:prstGeom>
          <a:solidFill>
            <a:srgbClr val="224435"/>
          </a:solidFill>
          <a:ln/>
        </p:spPr>
      </p:sp>
      <p:sp>
        <p:nvSpPr>
          <p:cNvPr id="23" name="Shape 20"/>
          <p:cNvSpPr/>
          <p:nvPr/>
        </p:nvSpPr>
        <p:spPr>
          <a:xfrm>
            <a:off x="6108944" y="6975078"/>
            <a:ext cx="5433976" cy="25400"/>
          </a:xfrm>
          <a:prstGeom prst="rect">
            <a:avLst/>
          </a:prstGeom>
          <a:solidFill>
            <a:srgbClr val="224435"/>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69702"/>
            <a:ext cx="10868745" cy="395684"/>
          </a:xfrm>
          <a:prstGeom prst="rect">
            <a:avLst/>
          </a:prstGeom>
          <a:noFill/>
          <a:ln/>
        </p:spPr>
        <p:txBody>
          <a:bodyPr wrap="none" lIns="0" tIns="0" rIns="0" bIns="0" rtlCol="0" anchor="t"/>
          <a:lstStyle/>
          <a:p>
            <a:pPr marL="0" indent="0" algn="l">
              <a:lnSpc>
                <a:spcPct val="104000"/>
              </a:lnSpc>
              <a:buNone/>
            </a:pPr>
            <a:r>
              <a:rPr lang="en-US" sz="2450" b="1" dirty="0">
                <a:solidFill>
                  <a:srgbClr val="233939"/>
                </a:solidFill>
                <a:latin typeface="Syne Bold" pitchFamily="34" charset="0"/>
                <a:ea typeface="Syne Bold" pitchFamily="34" charset="-122"/>
                <a:cs typeface="Syne Bold" pitchFamily="34" charset="-120"/>
              </a:rPr>
              <a:t>IoT-Based Data Collection</a:t>
            </a:r>
            <a:endParaRPr lang="en-US" sz="2450" dirty="0"/>
          </a:p>
        </p:txBody>
      </p:sp>
      <p:sp>
        <p:nvSpPr>
          <p:cNvPr id="3" name="Shape 1"/>
          <p:cNvSpPr/>
          <p:nvPr/>
        </p:nvSpPr>
        <p:spPr>
          <a:xfrm>
            <a:off x="570295" y="1010741"/>
            <a:ext cx="5462252" cy="5377458"/>
          </a:xfrm>
          <a:prstGeom prst="roundRect">
            <a:avLst>
              <a:gd name="adj" fmla="val 1695"/>
            </a:avLst>
          </a:prstGeom>
          <a:solidFill>
            <a:srgbClr val="224435"/>
          </a:solidFill>
          <a:ln/>
        </p:spPr>
      </p:sp>
      <p:sp>
        <p:nvSpPr>
          <p:cNvPr id="4" name="Text 2"/>
          <p:cNvSpPr/>
          <p:nvPr/>
        </p:nvSpPr>
        <p:spPr>
          <a:xfrm>
            <a:off x="696895" y="1107678"/>
            <a:ext cx="5209052" cy="197743"/>
          </a:xfrm>
          <a:prstGeom prst="rect">
            <a:avLst/>
          </a:prstGeom>
          <a:noFill/>
          <a:ln/>
        </p:spPr>
        <p:txBody>
          <a:bodyPr wrap="none" lIns="0" tIns="0" rIns="0" bIns="0" rtlCol="0" anchor="t"/>
          <a:lstStyle/>
          <a:p>
            <a:pPr marL="0" indent="0" algn="l">
              <a:lnSpc>
                <a:spcPct val="104000"/>
              </a:lnSpc>
              <a:buNone/>
            </a:pPr>
            <a:r>
              <a:rPr lang="en-US" sz="1200" b="1" dirty="0">
                <a:solidFill>
                  <a:srgbClr val="FFFFFF"/>
                </a:solidFill>
                <a:latin typeface="Syne Bold" pitchFamily="34" charset="0"/>
                <a:ea typeface="Syne Bold" pitchFamily="34" charset="-122"/>
                <a:cs typeface="Syne Bold" pitchFamily="34" charset="-120"/>
              </a:rPr>
              <a:t>How Data Flows from Field to Platform</a:t>
            </a:r>
            <a:endParaRPr lang="en-US" sz="1200" dirty="0"/>
          </a:p>
        </p:txBody>
      </p:sp>
      <p:sp>
        <p:nvSpPr>
          <p:cNvPr id="5" name="Text 3"/>
          <p:cNvSpPr/>
          <p:nvPr/>
        </p:nvSpPr>
        <p:spPr>
          <a:xfrm>
            <a:off x="696895" y="1402358"/>
            <a:ext cx="5209052" cy="1338759"/>
          </a:xfrm>
          <a:prstGeom prst="rect">
            <a:avLst/>
          </a:prstGeom>
          <a:noFill/>
          <a:ln/>
        </p:spPr>
        <p:txBody>
          <a:bodyPr wrap="square" lIns="0" tIns="0" rIns="0" bIns="0" rtlCol="0" anchor="t">
            <a:normAutofit/>
          </a:bodyPr>
          <a:lstStyle/>
          <a:p>
            <a:pPr marL="0" indent="0" algn="l">
              <a:lnSpc>
                <a:spcPct val="118000"/>
              </a:lnSpc>
              <a:spcAft>
                <a:spcPts val="650"/>
              </a:spcAft>
              <a:buNone/>
            </a:pPr>
            <a:r>
              <a:rPr lang="en-US" sz="950" dirty="0">
                <a:solidFill>
                  <a:srgbClr val="FFFFFF"/>
                </a:solidFill>
                <a:latin typeface="Overpass Light" pitchFamily="34" charset="0"/>
                <a:ea typeface="Overpass Light" pitchFamily="34" charset="-122"/>
                <a:cs typeface="Overpass Light" pitchFamily="34" charset="-120"/>
              </a:rPr>
              <a:t>The data collection layer is the foundation of the entire system. Sound level sensors deployed across urban zones operate continuously, capturing environmental noise measurements without gaps. Each reading is immediately paired with GPS location data before transmission.</a:t>
            </a:r>
            <a:endParaRPr lang="en-US" sz="950" dirty="0"/>
          </a:p>
          <a:p>
            <a:pPr marL="0" indent="0" algn="l">
              <a:lnSpc>
                <a:spcPct val="118000"/>
              </a:lnSpc>
              <a:buNone/>
            </a:pPr>
            <a:r>
              <a:rPr lang="en-US" sz="950" dirty="0">
                <a:solidFill>
                  <a:srgbClr val="FFFFFF"/>
                </a:solidFill>
                <a:latin typeface="Overpass Light" pitchFamily="34" charset="0"/>
                <a:ea typeface="Overpass Light" pitchFamily="34" charset="-122"/>
                <a:cs typeface="Overpass Light" pitchFamily="34" charset="-120"/>
              </a:rPr>
              <a:t>IoT communication modules relay these tagged measurements to the centralized cloud system, where they are aggregated from all active monitoring points simultaneously. This architecture ensures that </a:t>
            </a:r>
            <a:r>
              <a:rPr lang="en-US" sz="950" b="1" dirty="0">
                <a:solidFill>
                  <a:srgbClr val="FFFFFF"/>
                </a:solidFill>
                <a:latin typeface="Overpass Bold" pitchFamily="34" charset="0"/>
                <a:ea typeface="Overpass Bold" pitchFamily="34" charset="-122"/>
                <a:cs typeface="Overpass Bold" pitchFamily="34" charset="-120"/>
              </a:rPr>
              <a:t>no noise event goes unrecorded</a:t>
            </a:r>
            <a:r>
              <a:rPr lang="en-US" sz="950" dirty="0">
                <a:solidFill>
                  <a:srgbClr val="FFFFFF"/>
                </a:solidFill>
                <a:latin typeface="Overpass Light" pitchFamily="34" charset="0"/>
                <a:ea typeface="Overpass Light" pitchFamily="34" charset="-122"/>
                <a:cs typeface="Overpass Light" pitchFamily="34" charset="-120"/>
              </a:rPr>
              <a:t> and that every data point carries the spatial context needed for meaningful analysis.</a:t>
            </a:r>
            <a:endParaRPr lang="en-US" sz="950" dirty="0"/>
          </a:p>
        </p:txBody>
      </p:sp>
      <p:sp>
        <p:nvSpPr>
          <p:cNvPr id="6" name="Text 4"/>
          <p:cNvSpPr/>
          <p:nvPr/>
        </p:nvSpPr>
        <p:spPr>
          <a:xfrm>
            <a:off x="6256677" y="1107678"/>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233939"/>
                </a:solidFill>
                <a:latin typeface="Syne Bold" pitchFamily="34" charset="0"/>
                <a:ea typeface="Syne Bold" pitchFamily="34" charset="-122"/>
                <a:cs typeface="Syne Bold" pitchFamily="34" charset="-120"/>
              </a:rPr>
              <a:t>Data Collection Components</a:t>
            </a:r>
            <a:endParaRPr lang="en-US" sz="1200" dirty="0"/>
          </a:p>
        </p:txBody>
      </p:sp>
      <p:sp>
        <p:nvSpPr>
          <p:cNvPr id="7" name="Text 5"/>
          <p:cNvSpPr/>
          <p:nvPr/>
        </p:nvSpPr>
        <p:spPr>
          <a:xfrm>
            <a:off x="6256677" y="1414463"/>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01</a:t>
            </a:r>
            <a:endParaRPr lang="en-US" sz="950" dirty="0"/>
          </a:p>
        </p:txBody>
      </p:sp>
      <p:sp>
        <p:nvSpPr>
          <p:cNvPr id="8" name="Shape 6"/>
          <p:cNvSpPr/>
          <p:nvPr/>
        </p:nvSpPr>
        <p:spPr>
          <a:xfrm>
            <a:off x="6256677" y="1616968"/>
            <a:ext cx="5279893" cy="12700"/>
          </a:xfrm>
          <a:prstGeom prst="rect">
            <a:avLst/>
          </a:prstGeom>
          <a:solidFill>
            <a:srgbClr val="224435"/>
          </a:solidFill>
          <a:ln/>
        </p:spPr>
      </p:sp>
      <p:sp>
        <p:nvSpPr>
          <p:cNvPr id="9" name="Text 7"/>
          <p:cNvSpPr/>
          <p:nvPr/>
        </p:nvSpPr>
        <p:spPr>
          <a:xfrm>
            <a:off x="6256677" y="1705670"/>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Sound Level Sensors</a:t>
            </a:r>
            <a:endParaRPr lang="en-US" sz="1200" dirty="0"/>
          </a:p>
        </p:txBody>
      </p:sp>
      <p:sp>
        <p:nvSpPr>
          <p:cNvPr id="10" name="Text 8"/>
          <p:cNvSpPr/>
          <p:nvPr/>
        </p:nvSpPr>
        <p:spPr>
          <a:xfrm>
            <a:off x="6256677" y="2000349"/>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Continuously measure environmental noise at each deployed urban monitoring point.</a:t>
            </a:r>
            <a:endParaRPr lang="en-US" sz="950" dirty="0"/>
          </a:p>
        </p:txBody>
      </p:sp>
      <p:sp>
        <p:nvSpPr>
          <p:cNvPr id="11" name="Text 9"/>
          <p:cNvSpPr/>
          <p:nvPr/>
        </p:nvSpPr>
        <p:spPr>
          <a:xfrm>
            <a:off x="6256677" y="2371030"/>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02</a:t>
            </a:r>
            <a:endParaRPr lang="en-US" sz="950" dirty="0"/>
          </a:p>
        </p:txBody>
      </p:sp>
      <p:sp>
        <p:nvSpPr>
          <p:cNvPr id="12" name="Shape 10"/>
          <p:cNvSpPr/>
          <p:nvPr/>
        </p:nvSpPr>
        <p:spPr>
          <a:xfrm>
            <a:off x="6256677" y="2573536"/>
            <a:ext cx="5279893" cy="12700"/>
          </a:xfrm>
          <a:prstGeom prst="rect">
            <a:avLst/>
          </a:prstGeom>
          <a:solidFill>
            <a:srgbClr val="224435"/>
          </a:solidFill>
          <a:ln/>
        </p:spPr>
      </p:sp>
      <p:sp>
        <p:nvSpPr>
          <p:cNvPr id="13" name="Text 11"/>
          <p:cNvSpPr/>
          <p:nvPr/>
        </p:nvSpPr>
        <p:spPr>
          <a:xfrm>
            <a:off x="6256677" y="2662238"/>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GPS Tagging</a:t>
            </a:r>
            <a:endParaRPr lang="en-US" sz="1200" dirty="0"/>
          </a:p>
        </p:txBody>
      </p:sp>
      <p:sp>
        <p:nvSpPr>
          <p:cNvPr id="14" name="Text 12"/>
          <p:cNvSpPr/>
          <p:nvPr/>
        </p:nvSpPr>
        <p:spPr>
          <a:xfrm>
            <a:off x="6256677" y="2956917"/>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Associates every measurement with a specific geographic location for spatial accuracy.</a:t>
            </a:r>
            <a:endParaRPr lang="en-US" sz="950" dirty="0"/>
          </a:p>
        </p:txBody>
      </p:sp>
      <p:sp>
        <p:nvSpPr>
          <p:cNvPr id="15" name="Text 13"/>
          <p:cNvSpPr/>
          <p:nvPr/>
        </p:nvSpPr>
        <p:spPr>
          <a:xfrm>
            <a:off x="6256677" y="3327598"/>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03</a:t>
            </a:r>
            <a:endParaRPr lang="en-US" sz="950" dirty="0"/>
          </a:p>
        </p:txBody>
      </p:sp>
      <p:sp>
        <p:nvSpPr>
          <p:cNvPr id="16" name="Shape 14"/>
          <p:cNvSpPr/>
          <p:nvPr/>
        </p:nvSpPr>
        <p:spPr>
          <a:xfrm>
            <a:off x="6256677" y="3530104"/>
            <a:ext cx="5279893" cy="12700"/>
          </a:xfrm>
          <a:prstGeom prst="rect">
            <a:avLst/>
          </a:prstGeom>
          <a:solidFill>
            <a:srgbClr val="224435"/>
          </a:solidFill>
          <a:ln/>
        </p:spPr>
      </p:sp>
      <p:sp>
        <p:nvSpPr>
          <p:cNvPr id="17" name="Text 15"/>
          <p:cNvSpPr/>
          <p:nvPr/>
        </p:nvSpPr>
        <p:spPr>
          <a:xfrm>
            <a:off x="6256677" y="3618805"/>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IoT Communication Modules</a:t>
            </a:r>
            <a:endParaRPr lang="en-US" sz="1200" dirty="0"/>
          </a:p>
        </p:txBody>
      </p:sp>
      <p:sp>
        <p:nvSpPr>
          <p:cNvPr id="18" name="Text 16"/>
          <p:cNvSpPr/>
          <p:nvPr/>
        </p:nvSpPr>
        <p:spPr>
          <a:xfrm>
            <a:off x="6256677" y="3913485"/>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Transmit collected, location-tagged measurements to the centralized cloud platform.</a:t>
            </a:r>
            <a:endParaRPr lang="en-US" sz="950" dirty="0"/>
          </a:p>
        </p:txBody>
      </p:sp>
      <p:sp>
        <p:nvSpPr>
          <p:cNvPr id="19" name="Text 17"/>
          <p:cNvSpPr/>
          <p:nvPr/>
        </p:nvSpPr>
        <p:spPr>
          <a:xfrm>
            <a:off x="6256677" y="4284166"/>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04</a:t>
            </a:r>
            <a:endParaRPr lang="en-US" sz="950" dirty="0"/>
          </a:p>
        </p:txBody>
      </p:sp>
      <p:sp>
        <p:nvSpPr>
          <p:cNvPr id="20" name="Shape 18"/>
          <p:cNvSpPr/>
          <p:nvPr/>
        </p:nvSpPr>
        <p:spPr>
          <a:xfrm>
            <a:off x="6256677" y="4486672"/>
            <a:ext cx="5279893" cy="12700"/>
          </a:xfrm>
          <a:prstGeom prst="rect">
            <a:avLst/>
          </a:prstGeom>
          <a:solidFill>
            <a:srgbClr val="224435"/>
          </a:solidFill>
          <a:ln/>
        </p:spPr>
      </p:sp>
      <p:sp>
        <p:nvSpPr>
          <p:cNvPr id="21" name="Text 19"/>
          <p:cNvSpPr/>
          <p:nvPr/>
        </p:nvSpPr>
        <p:spPr>
          <a:xfrm>
            <a:off x="6256677" y="4575373"/>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Multi-Point Aggregation</a:t>
            </a:r>
            <a:endParaRPr lang="en-US" sz="1200" dirty="0"/>
          </a:p>
        </p:txBody>
      </p:sp>
      <p:sp>
        <p:nvSpPr>
          <p:cNvPr id="22" name="Text 20"/>
          <p:cNvSpPr/>
          <p:nvPr/>
        </p:nvSpPr>
        <p:spPr>
          <a:xfrm>
            <a:off x="6256677" y="4870053"/>
            <a:ext cx="52798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Multiple monitoring nodes contribute data simultaneously, building a comprehensive urban noise picture.</a:t>
            </a:r>
            <a:endParaRPr lang="en-US" sz="950" dirty="0"/>
          </a:p>
        </p:txBody>
      </p:sp>
      <p:sp>
        <p:nvSpPr>
          <p:cNvPr id="23" name="Text 21"/>
          <p:cNvSpPr/>
          <p:nvPr/>
        </p:nvSpPr>
        <p:spPr>
          <a:xfrm>
            <a:off x="6256677" y="5419527"/>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05</a:t>
            </a:r>
            <a:endParaRPr lang="en-US" sz="950" dirty="0"/>
          </a:p>
        </p:txBody>
      </p:sp>
      <p:sp>
        <p:nvSpPr>
          <p:cNvPr id="24" name="Shape 22"/>
          <p:cNvSpPr/>
          <p:nvPr/>
        </p:nvSpPr>
        <p:spPr>
          <a:xfrm>
            <a:off x="6256677" y="5622032"/>
            <a:ext cx="5279893" cy="12700"/>
          </a:xfrm>
          <a:prstGeom prst="rect">
            <a:avLst/>
          </a:prstGeom>
          <a:solidFill>
            <a:srgbClr val="224435"/>
          </a:solidFill>
          <a:ln/>
        </p:spPr>
      </p:sp>
      <p:sp>
        <p:nvSpPr>
          <p:cNvPr id="25" name="Text 23"/>
          <p:cNvSpPr/>
          <p:nvPr/>
        </p:nvSpPr>
        <p:spPr>
          <a:xfrm>
            <a:off x="6256677" y="5710734"/>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Continuous Real-Time Feed</a:t>
            </a:r>
            <a:endParaRPr lang="en-US" sz="1200" dirty="0"/>
          </a:p>
        </p:txBody>
      </p:sp>
      <p:sp>
        <p:nvSpPr>
          <p:cNvPr id="26" name="Text 24"/>
          <p:cNvSpPr/>
          <p:nvPr/>
        </p:nvSpPr>
        <p:spPr>
          <a:xfrm>
            <a:off x="6256677" y="6005413"/>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Uninterrupted data flow enables live environmental monitoring and immediate analysis.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55612"/>
            <a:ext cx="10868745" cy="484485"/>
          </a:xfrm>
          <a:prstGeom prst="rect">
            <a:avLst/>
          </a:prstGeom>
          <a:noFill/>
          <a:ln/>
        </p:spPr>
        <p:txBody>
          <a:bodyPr wrap="none" lIns="0" tIns="0" rIns="0" bIns="0" rtlCol="0" anchor="t"/>
          <a:lstStyle/>
          <a:p>
            <a:pPr marL="0" indent="0" algn="l">
              <a:lnSpc>
                <a:spcPct val="104000"/>
              </a:lnSpc>
              <a:buNone/>
            </a:pPr>
            <a:r>
              <a:rPr lang="en-US" sz="3050" b="1" dirty="0">
                <a:solidFill>
                  <a:srgbClr val="233939"/>
                </a:solidFill>
                <a:latin typeface="Syne Bold" pitchFamily="34" charset="0"/>
                <a:ea typeface="Syne Bold" pitchFamily="34" charset="-122"/>
                <a:cs typeface="Syne Bold" pitchFamily="34" charset="-120"/>
              </a:rPr>
              <a:t>Real-Time Monitoring and Dashboard</a:t>
            </a:r>
            <a:endParaRPr lang="en-US" sz="3050" dirty="0"/>
          </a:p>
        </p:txBody>
      </p:sp>
      <p:sp>
        <p:nvSpPr>
          <p:cNvPr id="3" name="Text 1"/>
          <p:cNvSpPr/>
          <p:nvPr/>
        </p:nvSpPr>
        <p:spPr>
          <a:xfrm>
            <a:off x="661475" y="1230809"/>
            <a:ext cx="10868745"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The centralized dashboard serves as the primary interface between the IoT monitoring infrastructure and environmental authorities. It consolidates live sensor feeds, historical records, and spatial analytics into a single, user-friendly platform.</a:t>
            </a:r>
            <a:endParaRPr lang="en-US" sz="1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874937"/>
            <a:ext cx="387539" cy="387548"/>
          </a:xfrm>
          <a:prstGeom prst="rect">
            <a:avLst/>
          </a:prstGeom>
        </p:spPr>
      </p:pic>
      <p:sp>
        <p:nvSpPr>
          <p:cNvPr id="5" name="Text 2"/>
          <p:cNvSpPr/>
          <p:nvPr/>
        </p:nvSpPr>
        <p:spPr>
          <a:xfrm>
            <a:off x="661475" y="2444155"/>
            <a:ext cx="3501739"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Real-Time Noise Visualization</a:t>
            </a:r>
            <a:endParaRPr lang="en-US" sz="1500" dirty="0"/>
          </a:p>
        </p:txBody>
      </p:sp>
      <p:sp>
        <p:nvSpPr>
          <p:cNvPr id="6" name="Text 3"/>
          <p:cNvSpPr/>
          <p:nvPr/>
        </p:nvSpPr>
        <p:spPr>
          <a:xfrm>
            <a:off x="661475" y="2773561"/>
            <a:ext cx="3501739"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Live noise level readings from all active sensors are displayed continuously, giving authorities an immediate view of current urban conditions.</a:t>
            </a:r>
            <a:endParaRPr lang="en-US" sz="12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44879" y="1874937"/>
            <a:ext cx="387539" cy="387548"/>
          </a:xfrm>
          <a:prstGeom prst="rect">
            <a:avLst/>
          </a:prstGeom>
        </p:spPr>
      </p:pic>
      <p:sp>
        <p:nvSpPr>
          <p:cNvPr id="8" name="Text 4"/>
          <p:cNvSpPr/>
          <p:nvPr/>
        </p:nvSpPr>
        <p:spPr>
          <a:xfrm>
            <a:off x="4344879" y="2444155"/>
            <a:ext cx="3501838"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Location-Based Analysis</a:t>
            </a:r>
            <a:endParaRPr lang="en-US" sz="1500" dirty="0"/>
          </a:p>
        </p:txBody>
      </p:sp>
      <p:sp>
        <p:nvSpPr>
          <p:cNvPr id="9" name="Text 5"/>
          <p:cNvSpPr/>
          <p:nvPr/>
        </p:nvSpPr>
        <p:spPr>
          <a:xfrm>
            <a:off x="4344879" y="2773561"/>
            <a:ext cx="3501838"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Noise data is mapped to specific geographic coordinates, enabling spatial comparison across different urban zones simultaneously.</a:t>
            </a:r>
            <a:endParaRPr lang="en-US" sz="12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8382" y="1874937"/>
            <a:ext cx="387539" cy="387548"/>
          </a:xfrm>
          <a:prstGeom prst="rect">
            <a:avLst/>
          </a:prstGeom>
        </p:spPr>
      </p:pic>
      <p:sp>
        <p:nvSpPr>
          <p:cNvPr id="11" name="Text 6"/>
          <p:cNvSpPr/>
          <p:nvPr/>
        </p:nvSpPr>
        <p:spPr>
          <a:xfrm>
            <a:off x="8028382" y="2444155"/>
            <a:ext cx="3501838"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Pollution Trend Visualization</a:t>
            </a:r>
            <a:endParaRPr lang="en-US" sz="1500" dirty="0"/>
          </a:p>
        </p:txBody>
      </p:sp>
      <p:sp>
        <p:nvSpPr>
          <p:cNvPr id="12" name="Text 7"/>
          <p:cNvSpPr/>
          <p:nvPr/>
        </p:nvSpPr>
        <p:spPr>
          <a:xfrm>
            <a:off x="8028382" y="2773561"/>
            <a:ext cx="3501838"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Time-series charts reveal how noise levels evolve over hours, days, and weeks — exposing recurring patterns and escalating zones.</a:t>
            </a:r>
            <a:endParaRPr lang="en-US" sz="12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3785195"/>
            <a:ext cx="387539" cy="387548"/>
          </a:xfrm>
          <a:prstGeom prst="rect">
            <a:avLst/>
          </a:prstGeom>
        </p:spPr>
      </p:pic>
      <p:sp>
        <p:nvSpPr>
          <p:cNvPr id="14" name="Text 8"/>
          <p:cNvSpPr/>
          <p:nvPr/>
        </p:nvSpPr>
        <p:spPr>
          <a:xfrm>
            <a:off x="661475" y="4354413"/>
            <a:ext cx="3501739"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Historical Records Access</a:t>
            </a:r>
            <a:endParaRPr lang="en-US" sz="1500" dirty="0"/>
          </a:p>
        </p:txBody>
      </p:sp>
      <p:sp>
        <p:nvSpPr>
          <p:cNvPr id="15" name="Text 9"/>
          <p:cNvSpPr/>
          <p:nvPr/>
        </p:nvSpPr>
        <p:spPr>
          <a:xfrm>
            <a:off x="661475" y="4683820"/>
            <a:ext cx="3501739"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Authorities can query and review past noise data through the platform, supporting regulatory reporting and longitudinal environmental studies.</a:t>
            </a:r>
            <a:endParaRPr lang="en-US" sz="12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44879" y="3785195"/>
            <a:ext cx="387539" cy="387548"/>
          </a:xfrm>
          <a:prstGeom prst="rect">
            <a:avLst/>
          </a:prstGeom>
        </p:spPr>
      </p:pic>
      <p:sp>
        <p:nvSpPr>
          <p:cNvPr id="17" name="Text 10"/>
          <p:cNvSpPr/>
          <p:nvPr/>
        </p:nvSpPr>
        <p:spPr>
          <a:xfrm>
            <a:off x="4344879" y="4354413"/>
            <a:ext cx="3501838"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Multi-Location Monitoring</a:t>
            </a:r>
            <a:endParaRPr lang="en-US" sz="1500" dirty="0"/>
          </a:p>
        </p:txBody>
      </p:sp>
      <p:sp>
        <p:nvSpPr>
          <p:cNvPr id="18" name="Text 11"/>
          <p:cNvSpPr/>
          <p:nvPr/>
        </p:nvSpPr>
        <p:spPr>
          <a:xfrm>
            <a:off x="4344879" y="4683820"/>
            <a:ext cx="3501838"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All deployed monitoring points are visible simultaneously, enabling city-wide situational awareness from a single interface.</a:t>
            </a:r>
            <a:endParaRPr lang="en-US" sz="1200" dirty="0"/>
          </a:p>
        </p:txBody>
      </p:sp>
      <p:sp>
        <p:nvSpPr>
          <p:cNvPr id="19" name="Shape 12"/>
          <p:cNvSpPr/>
          <p:nvPr/>
        </p:nvSpPr>
        <p:spPr>
          <a:xfrm>
            <a:off x="661475" y="5568255"/>
            <a:ext cx="10868745" cy="834132"/>
          </a:xfrm>
          <a:prstGeom prst="roundRect">
            <a:avLst>
              <a:gd name="adj" fmla="val 7807"/>
            </a:avLst>
          </a:prstGeom>
          <a:solidFill>
            <a:srgbClr val="DDEEE6"/>
          </a:solidFill>
          <a:ln/>
        </p:spPr>
      </p:sp>
      <p:pic>
        <p:nvPicPr>
          <p:cNvPr id="20" name="Image 5" descr="preencoded.png"/>
          <p:cNvPicPr>
            <a:picLocks noChangeAspect="1"/>
          </p:cNvPicPr>
          <p:nvPr/>
        </p:nvPicPr>
        <p:blipFill>
          <a:blip r:embed="rId8"/>
          <a:stretch>
            <a:fillRect/>
          </a:stretch>
        </p:blipFill>
        <p:spPr>
          <a:xfrm>
            <a:off x="816451" y="5775424"/>
            <a:ext cx="193769" cy="154980"/>
          </a:xfrm>
          <a:prstGeom prst="rect">
            <a:avLst/>
          </a:prstGeom>
        </p:spPr>
      </p:pic>
      <p:sp>
        <p:nvSpPr>
          <p:cNvPr id="21" name="Text 13"/>
          <p:cNvSpPr/>
          <p:nvPr/>
        </p:nvSpPr>
        <p:spPr>
          <a:xfrm>
            <a:off x="1165196" y="5752306"/>
            <a:ext cx="10210048"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000000"/>
                </a:solidFill>
                <a:latin typeface="Overpass Light" pitchFamily="34" charset="0"/>
                <a:ea typeface="Overpass Light" pitchFamily="34" charset="-122"/>
                <a:cs typeface="Overpass Light" pitchFamily="34" charset="-120"/>
              </a:rPr>
              <a:t>The dashboard is designed with a </a:t>
            </a:r>
            <a:r>
              <a:rPr lang="en-US" sz="1200" b="1" dirty="0">
                <a:solidFill>
                  <a:srgbClr val="000000"/>
                </a:solidFill>
                <a:latin typeface="Overpass Bold" pitchFamily="34" charset="0"/>
                <a:ea typeface="Overpass Bold" pitchFamily="34" charset="-122"/>
                <a:cs typeface="Overpass Bold" pitchFamily="34" charset="-120"/>
              </a:rPr>
              <a:t>user-friendly interface</a:t>
            </a:r>
            <a:r>
              <a:rPr lang="en-US" sz="1200" dirty="0">
                <a:solidFill>
                  <a:srgbClr val="000000"/>
                </a:solidFill>
                <a:latin typeface="Overpass Light" pitchFamily="34" charset="0"/>
                <a:ea typeface="Overpass Light" pitchFamily="34" charset="-122"/>
                <a:cs typeface="Overpass Light" pitchFamily="34" charset="-120"/>
              </a:rPr>
              <a:t> specifically tailored for environmental authorities — enabling rapid comprehension of current urban noise conditions without technical expertise.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00856"/>
            <a:ext cx="10868745" cy="500658"/>
          </a:xfrm>
          <a:prstGeom prst="rect">
            <a:avLst/>
          </a:prstGeom>
          <a:noFill/>
          <a:ln/>
        </p:spPr>
        <p:txBody>
          <a:bodyPr wrap="none" lIns="0" tIns="0" rIns="0" bIns="0" rtlCol="0" anchor="t"/>
          <a:lstStyle/>
          <a:p>
            <a:pPr marL="0" indent="0" algn="l">
              <a:lnSpc>
                <a:spcPct val="104000"/>
              </a:lnSpc>
              <a:buNone/>
            </a:pPr>
            <a:r>
              <a:rPr lang="en-US" sz="3150" b="1" dirty="0">
                <a:solidFill>
                  <a:srgbClr val="233939"/>
                </a:solidFill>
                <a:latin typeface="Syne Bold" pitchFamily="34" charset="0"/>
                <a:ea typeface="Syne Bold" pitchFamily="34" charset="-122"/>
                <a:cs typeface="Syne Bold" pitchFamily="34" charset="-120"/>
              </a:rPr>
              <a:t>Alerts and Environmental Analysis</a:t>
            </a:r>
            <a:endParaRPr lang="en-US" sz="3150" dirty="0"/>
          </a:p>
        </p:txBody>
      </p:sp>
      <p:sp>
        <p:nvSpPr>
          <p:cNvPr id="3" name="Text 1"/>
          <p:cNvSpPr/>
          <p:nvPr/>
        </p:nvSpPr>
        <p:spPr>
          <a:xfrm>
            <a:off x="661475" y="1389459"/>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233939"/>
                </a:solidFill>
                <a:latin typeface="Syne Bold" pitchFamily="34" charset="0"/>
                <a:ea typeface="Syne Bold" pitchFamily="34" charset="-122"/>
                <a:cs typeface="Syne Bold" pitchFamily="34" charset="-120"/>
              </a:rPr>
              <a:t>Automated Alert System</a:t>
            </a:r>
            <a:endParaRPr lang="en-US" sz="15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814314"/>
            <a:ext cx="5238917" cy="1268512"/>
          </a:xfrm>
          <a:prstGeom prst="rect">
            <a:avLst/>
          </a:prstGeom>
        </p:spPr>
      </p:pic>
      <p:sp>
        <p:nvSpPr>
          <p:cNvPr id="5" name="Text 2"/>
          <p:cNvSpPr/>
          <p:nvPr/>
        </p:nvSpPr>
        <p:spPr>
          <a:xfrm>
            <a:off x="916858" y="199350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Threshold Comparison</a:t>
            </a:r>
            <a:endParaRPr lang="en-US" sz="1550" dirty="0"/>
          </a:p>
        </p:txBody>
      </p:sp>
      <p:sp>
        <p:nvSpPr>
          <p:cNvPr id="6" name="Text 3"/>
          <p:cNvSpPr/>
          <p:nvPr/>
        </p:nvSpPr>
        <p:spPr>
          <a:xfrm>
            <a:off x="916858" y="239901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Measured noise levels are continuously compared against established permissible environmental limits in real time.</a:t>
            </a:r>
            <a:endParaRPr lang="en-US" sz="12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238004"/>
            <a:ext cx="5238917" cy="1268512"/>
          </a:xfrm>
          <a:prstGeom prst="rect">
            <a:avLst/>
          </a:prstGeom>
        </p:spPr>
      </p:pic>
      <p:sp>
        <p:nvSpPr>
          <p:cNvPr id="8" name="Text 4"/>
          <p:cNvSpPr/>
          <p:nvPr/>
        </p:nvSpPr>
        <p:spPr>
          <a:xfrm>
            <a:off x="916858" y="341719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Automated Notifications</a:t>
            </a:r>
            <a:endParaRPr lang="en-US" sz="1550" dirty="0"/>
          </a:p>
        </p:txBody>
      </p:sp>
      <p:sp>
        <p:nvSpPr>
          <p:cNvPr id="9" name="Text 5"/>
          <p:cNvSpPr/>
          <p:nvPr/>
        </p:nvSpPr>
        <p:spPr>
          <a:xfrm>
            <a:off x="916858" y="382270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When noise exceeds acceptable thresholds, the system immediately generates alerts and notifies relevant environmental authorities.</a:t>
            </a:r>
            <a:endParaRPr lang="en-US" sz="12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661694"/>
            <a:ext cx="5238917" cy="1268512"/>
          </a:xfrm>
          <a:prstGeom prst="rect">
            <a:avLst/>
          </a:prstGeom>
        </p:spPr>
      </p:pic>
      <p:sp>
        <p:nvSpPr>
          <p:cNvPr id="11" name="Text 6"/>
          <p:cNvSpPr/>
          <p:nvPr/>
        </p:nvSpPr>
        <p:spPr>
          <a:xfrm>
            <a:off x="916858" y="484088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Faster Authority Response</a:t>
            </a:r>
            <a:endParaRPr lang="en-US" sz="1550" dirty="0"/>
          </a:p>
        </p:txBody>
      </p:sp>
      <p:sp>
        <p:nvSpPr>
          <p:cNvPr id="12" name="Text 7"/>
          <p:cNvSpPr/>
          <p:nvPr/>
        </p:nvSpPr>
        <p:spPr>
          <a:xfrm>
            <a:off x="916858" y="524639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Timely alerts enable environmental agencies to respond to noise violations more rapidly than traditional monitoring methods allow.</a:t>
            </a:r>
            <a:endParaRPr lang="en-US" sz="1250" dirty="0"/>
          </a:p>
        </p:txBody>
      </p:sp>
      <p:sp>
        <p:nvSpPr>
          <p:cNvPr id="13" name="Text 8"/>
          <p:cNvSpPr/>
          <p:nvPr/>
        </p:nvSpPr>
        <p:spPr>
          <a:xfrm>
            <a:off x="6297653" y="1389459"/>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233939"/>
                </a:solidFill>
                <a:latin typeface="Syne Bold" pitchFamily="34" charset="0"/>
                <a:ea typeface="Syne Bold" pitchFamily="34" charset="-122"/>
                <a:cs typeface="Syne Bold" pitchFamily="34" charset="-120"/>
              </a:rPr>
              <a:t>Environmental Analysis Capabilities</a:t>
            </a:r>
            <a:endParaRPr lang="en-US" sz="15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7653" y="1814314"/>
            <a:ext cx="5238917" cy="1268512"/>
          </a:xfrm>
          <a:prstGeom prst="rect">
            <a:avLst/>
          </a:prstGeom>
        </p:spPr>
      </p:pic>
      <p:sp>
        <p:nvSpPr>
          <p:cNvPr id="15" name="Text 9"/>
          <p:cNvSpPr/>
          <p:nvPr/>
        </p:nvSpPr>
        <p:spPr>
          <a:xfrm>
            <a:off x="6553036" y="199350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Trend Identification</a:t>
            </a:r>
            <a:endParaRPr lang="en-US" sz="1550" dirty="0"/>
          </a:p>
        </p:txBody>
      </p:sp>
      <p:sp>
        <p:nvSpPr>
          <p:cNvPr id="16" name="Text 10"/>
          <p:cNvSpPr/>
          <p:nvPr/>
        </p:nvSpPr>
        <p:spPr>
          <a:xfrm>
            <a:off x="6553036" y="239901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Analytical tools identify noise pollution trends across time, revealing whether conditions are improving, worsening, or stable.</a:t>
            </a:r>
            <a:endParaRPr lang="en-US" sz="125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7653" y="3238004"/>
            <a:ext cx="5238917" cy="1268512"/>
          </a:xfrm>
          <a:prstGeom prst="rect">
            <a:avLst/>
          </a:prstGeom>
        </p:spPr>
      </p:pic>
      <p:sp>
        <p:nvSpPr>
          <p:cNvPr id="18" name="Text 11"/>
          <p:cNvSpPr/>
          <p:nvPr/>
        </p:nvSpPr>
        <p:spPr>
          <a:xfrm>
            <a:off x="6553036" y="341719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Location-Based Analysis</a:t>
            </a:r>
            <a:endParaRPr lang="en-US" sz="1550" dirty="0"/>
          </a:p>
        </p:txBody>
      </p:sp>
      <p:sp>
        <p:nvSpPr>
          <p:cNvPr id="19" name="Text 12"/>
          <p:cNvSpPr/>
          <p:nvPr/>
        </p:nvSpPr>
        <p:spPr>
          <a:xfrm>
            <a:off x="6553036" y="382270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Spatial analytics pinpoint which urban zones are most affected, enabling targeted intervention and resource allocation.</a:t>
            </a:r>
            <a:endParaRPr lang="en-US" sz="1250" dirty="0"/>
          </a:p>
        </p:txBody>
      </p:sp>
      <p:pic>
        <p:nvPicPr>
          <p:cNvPr id="20"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7653" y="4661694"/>
            <a:ext cx="5238917" cy="1520825"/>
          </a:xfrm>
          <a:prstGeom prst="rect">
            <a:avLst/>
          </a:prstGeom>
        </p:spPr>
      </p:pic>
      <p:sp>
        <p:nvSpPr>
          <p:cNvPr id="21" name="Text 13"/>
          <p:cNvSpPr/>
          <p:nvPr/>
        </p:nvSpPr>
        <p:spPr>
          <a:xfrm>
            <a:off x="6553036" y="484088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Recurring Pattern Recognition</a:t>
            </a:r>
            <a:endParaRPr lang="en-US" sz="1550" dirty="0"/>
          </a:p>
        </p:txBody>
      </p:sp>
      <p:sp>
        <p:nvSpPr>
          <p:cNvPr id="22" name="Text 14"/>
          <p:cNvSpPr/>
          <p:nvPr/>
        </p:nvSpPr>
        <p:spPr>
          <a:xfrm>
            <a:off x="6553036" y="5246390"/>
            <a:ext cx="4804349"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Historical records are analyzed to identify recurring pollution patterns — such as peak noise periods tied to traffic, industry, or events.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57299"/>
            <a:ext cx="10868745" cy="436066"/>
          </a:xfrm>
          <a:prstGeom prst="rect">
            <a:avLst/>
          </a:prstGeom>
          <a:noFill/>
          <a:ln/>
        </p:spPr>
        <p:txBody>
          <a:bodyPr wrap="none" lIns="0" tIns="0" rIns="0" bIns="0" rtlCol="0" anchor="t"/>
          <a:lstStyle/>
          <a:p>
            <a:pPr marL="0" indent="0" algn="l">
              <a:lnSpc>
                <a:spcPct val="104000"/>
              </a:lnSpc>
              <a:buNone/>
            </a:pPr>
            <a:r>
              <a:rPr lang="en-US" sz="2700" b="1" dirty="0">
                <a:solidFill>
                  <a:srgbClr val="233939"/>
                </a:solidFill>
                <a:latin typeface="Syne Bold" pitchFamily="34" charset="0"/>
                <a:ea typeface="Syne Bold" pitchFamily="34" charset="-122"/>
                <a:cs typeface="Syne Bold" pitchFamily="34" charset="-120"/>
              </a:rPr>
              <a:t>Applications and Benefits</a:t>
            </a:r>
            <a:endParaRPr lang="en-US" sz="2700" dirty="0"/>
          </a:p>
        </p:txBody>
      </p:sp>
      <p:sp>
        <p:nvSpPr>
          <p:cNvPr id="3" name="Text 1"/>
          <p:cNvSpPr/>
          <p:nvPr/>
        </p:nvSpPr>
        <p:spPr>
          <a:xfrm>
            <a:off x="661475" y="1187648"/>
            <a:ext cx="5264217" cy="217984"/>
          </a:xfrm>
          <a:prstGeom prst="rect">
            <a:avLst/>
          </a:prstGeom>
          <a:noFill/>
          <a:ln/>
        </p:spPr>
        <p:txBody>
          <a:bodyPr wrap="none" lIns="0" tIns="0" rIns="0" bIns="0" rtlCol="0" anchor="t"/>
          <a:lstStyle/>
          <a:p>
            <a:pPr marL="0" indent="0" algn="l">
              <a:lnSpc>
                <a:spcPct val="104000"/>
              </a:lnSpc>
              <a:buNone/>
            </a:pPr>
            <a:r>
              <a:rPr lang="en-US" sz="1350" b="1" dirty="0">
                <a:solidFill>
                  <a:srgbClr val="233939"/>
                </a:solidFill>
                <a:latin typeface="Syne Bold" pitchFamily="34" charset="0"/>
                <a:ea typeface="Syne Bold" pitchFamily="34" charset="-122"/>
                <a:cs typeface="Syne Bold" pitchFamily="34" charset="-120"/>
              </a:rPr>
              <a:t>Application Areas</a:t>
            </a:r>
            <a:endParaRPr lang="en-US" sz="1350" dirty="0"/>
          </a:p>
        </p:txBody>
      </p:sp>
      <p:sp>
        <p:nvSpPr>
          <p:cNvPr id="4" name="Shape 2"/>
          <p:cNvSpPr/>
          <p:nvPr/>
        </p:nvSpPr>
        <p:spPr>
          <a:xfrm>
            <a:off x="661475" y="1538089"/>
            <a:ext cx="2573273" cy="1244997"/>
          </a:xfrm>
          <a:prstGeom prst="roundRect">
            <a:avLst>
              <a:gd name="adj" fmla="val 4708"/>
            </a:avLst>
          </a:prstGeom>
          <a:solidFill>
            <a:srgbClr val="DDEEE6"/>
          </a:solidFill>
          <a:ln w="6350">
            <a:solidFill>
              <a:srgbClr val="C3D4CC"/>
            </a:solidFill>
            <a:prstDash val="solid"/>
          </a:ln>
        </p:spPr>
      </p:sp>
      <p:sp>
        <p:nvSpPr>
          <p:cNvPr id="5" name="Text 3"/>
          <p:cNvSpPr/>
          <p:nvPr/>
        </p:nvSpPr>
        <p:spPr>
          <a:xfrm>
            <a:off x="807323" y="1683941"/>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Smart Cities</a:t>
            </a:r>
            <a:endParaRPr lang="en-US" sz="1350" dirty="0"/>
          </a:p>
        </p:txBody>
      </p:sp>
      <p:sp>
        <p:nvSpPr>
          <p:cNvPr id="6" name="Text 4"/>
          <p:cNvSpPr/>
          <p:nvPr/>
        </p:nvSpPr>
        <p:spPr>
          <a:xfrm>
            <a:off x="807323" y="2019598"/>
            <a:ext cx="2281577" cy="6176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City-wide noise intelligence for integrated urban management platforms.</a:t>
            </a:r>
            <a:endParaRPr lang="en-US" sz="1050" dirty="0"/>
          </a:p>
        </p:txBody>
      </p:sp>
      <p:sp>
        <p:nvSpPr>
          <p:cNvPr id="7" name="Shape 5"/>
          <p:cNvSpPr/>
          <p:nvPr/>
        </p:nvSpPr>
        <p:spPr>
          <a:xfrm>
            <a:off x="3352418" y="1538089"/>
            <a:ext cx="2573273" cy="1244997"/>
          </a:xfrm>
          <a:prstGeom prst="roundRect">
            <a:avLst>
              <a:gd name="adj" fmla="val 4708"/>
            </a:avLst>
          </a:prstGeom>
          <a:solidFill>
            <a:srgbClr val="DDEEE6"/>
          </a:solidFill>
          <a:ln w="6350">
            <a:solidFill>
              <a:srgbClr val="C3D4CC"/>
            </a:solidFill>
            <a:prstDash val="solid"/>
          </a:ln>
        </p:spPr>
      </p:sp>
      <p:sp>
        <p:nvSpPr>
          <p:cNvPr id="8" name="Text 6"/>
          <p:cNvSpPr/>
          <p:nvPr/>
        </p:nvSpPr>
        <p:spPr>
          <a:xfrm>
            <a:off x="3498266" y="1683941"/>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Municipalities</a:t>
            </a:r>
            <a:endParaRPr lang="en-US" sz="1350" dirty="0"/>
          </a:p>
        </p:txBody>
      </p:sp>
      <p:sp>
        <p:nvSpPr>
          <p:cNvPr id="9" name="Text 7"/>
          <p:cNvSpPr/>
          <p:nvPr/>
        </p:nvSpPr>
        <p:spPr>
          <a:xfrm>
            <a:off x="3498266" y="2019598"/>
            <a:ext cx="2281577" cy="6176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Local government monitoring for regulatory compliance and community wellbeing.</a:t>
            </a:r>
            <a:endParaRPr lang="en-US" sz="1050" dirty="0"/>
          </a:p>
        </p:txBody>
      </p:sp>
      <p:sp>
        <p:nvSpPr>
          <p:cNvPr id="10" name="Shape 8"/>
          <p:cNvSpPr/>
          <p:nvPr/>
        </p:nvSpPr>
        <p:spPr>
          <a:xfrm>
            <a:off x="661475" y="2900759"/>
            <a:ext cx="5264217" cy="833239"/>
          </a:xfrm>
          <a:prstGeom prst="roundRect">
            <a:avLst>
              <a:gd name="adj" fmla="val 7034"/>
            </a:avLst>
          </a:prstGeom>
          <a:solidFill>
            <a:srgbClr val="DDEEE6"/>
          </a:solidFill>
          <a:ln w="6350">
            <a:solidFill>
              <a:srgbClr val="C3D4CC"/>
            </a:solidFill>
            <a:prstDash val="solid"/>
          </a:ln>
        </p:spPr>
      </p:sp>
      <p:sp>
        <p:nvSpPr>
          <p:cNvPr id="11" name="Text 9"/>
          <p:cNvSpPr/>
          <p:nvPr/>
        </p:nvSpPr>
        <p:spPr>
          <a:xfrm>
            <a:off x="807323" y="3046611"/>
            <a:ext cx="4972521"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Industrial Zones</a:t>
            </a:r>
            <a:endParaRPr lang="en-US" sz="1350" dirty="0"/>
          </a:p>
        </p:txBody>
      </p:sp>
      <p:sp>
        <p:nvSpPr>
          <p:cNvPr id="12" name="Text 10"/>
          <p:cNvSpPr/>
          <p:nvPr/>
        </p:nvSpPr>
        <p:spPr>
          <a:xfrm>
            <a:off x="807323" y="3382268"/>
            <a:ext cx="4972521" cy="205879"/>
          </a:xfrm>
          <a:prstGeom prst="rect">
            <a:avLst/>
          </a:prstGeom>
          <a:noFill/>
          <a:ln/>
        </p:spPr>
        <p:txBody>
          <a:bodyPr wrap="none" lIns="0" tIns="0" rIns="0" bIns="0" rtlCol="0" anchor="t"/>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Continuous monitoring of industrial noise to enforce environmental standards.</a:t>
            </a:r>
            <a:endParaRPr lang="en-US" sz="1050" dirty="0"/>
          </a:p>
        </p:txBody>
      </p:sp>
      <p:sp>
        <p:nvSpPr>
          <p:cNvPr id="13" name="Shape 11"/>
          <p:cNvSpPr/>
          <p:nvPr/>
        </p:nvSpPr>
        <p:spPr>
          <a:xfrm>
            <a:off x="661475" y="3866455"/>
            <a:ext cx="2573273" cy="1244997"/>
          </a:xfrm>
          <a:prstGeom prst="roundRect">
            <a:avLst>
              <a:gd name="adj" fmla="val 4708"/>
            </a:avLst>
          </a:prstGeom>
          <a:solidFill>
            <a:srgbClr val="DDEEE6"/>
          </a:solidFill>
          <a:ln w="6350">
            <a:solidFill>
              <a:srgbClr val="C3D4CC"/>
            </a:solidFill>
            <a:prstDash val="solid"/>
          </a:ln>
        </p:spPr>
      </p:sp>
      <p:sp>
        <p:nvSpPr>
          <p:cNvPr id="14" name="Text 12"/>
          <p:cNvSpPr/>
          <p:nvPr/>
        </p:nvSpPr>
        <p:spPr>
          <a:xfrm>
            <a:off x="807323" y="4012307"/>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Schools</a:t>
            </a:r>
            <a:endParaRPr lang="en-US" sz="1350" dirty="0"/>
          </a:p>
        </p:txBody>
      </p:sp>
      <p:sp>
        <p:nvSpPr>
          <p:cNvPr id="15" name="Text 13"/>
          <p:cNvSpPr/>
          <p:nvPr/>
        </p:nvSpPr>
        <p:spPr>
          <a:xfrm>
            <a:off x="807323" y="4347964"/>
            <a:ext cx="2281577"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Protecting learning environments from disruptive noise pollution.</a:t>
            </a:r>
            <a:endParaRPr lang="en-US" sz="1050" dirty="0"/>
          </a:p>
        </p:txBody>
      </p:sp>
      <p:sp>
        <p:nvSpPr>
          <p:cNvPr id="16" name="Shape 14"/>
          <p:cNvSpPr/>
          <p:nvPr/>
        </p:nvSpPr>
        <p:spPr>
          <a:xfrm>
            <a:off x="3352418" y="3866455"/>
            <a:ext cx="2573273" cy="1244997"/>
          </a:xfrm>
          <a:prstGeom prst="roundRect">
            <a:avLst>
              <a:gd name="adj" fmla="val 4708"/>
            </a:avLst>
          </a:prstGeom>
          <a:solidFill>
            <a:srgbClr val="DDEEE6"/>
          </a:solidFill>
          <a:ln w="6350">
            <a:solidFill>
              <a:srgbClr val="C3D4CC"/>
            </a:solidFill>
            <a:prstDash val="solid"/>
          </a:ln>
        </p:spPr>
      </p:sp>
      <p:sp>
        <p:nvSpPr>
          <p:cNvPr id="17" name="Text 15"/>
          <p:cNvSpPr/>
          <p:nvPr/>
        </p:nvSpPr>
        <p:spPr>
          <a:xfrm>
            <a:off x="3498266" y="4012307"/>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Hospitals</a:t>
            </a:r>
            <a:endParaRPr lang="en-US" sz="1350" dirty="0"/>
          </a:p>
        </p:txBody>
      </p:sp>
      <p:sp>
        <p:nvSpPr>
          <p:cNvPr id="18" name="Text 16"/>
          <p:cNvSpPr/>
          <p:nvPr/>
        </p:nvSpPr>
        <p:spPr>
          <a:xfrm>
            <a:off x="3498266" y="4347964"/>
            <a:ext cx="2281577" cy="6176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Ensuring acoustic conditions that support patient recovery and care quality.</a:t>
            </a:r>
            <a:endParaRPr lang="en-US" sz="1050" dirty="0"/>
          </a:p>
        </p:txBody>
      </p:sp>
      <p:sp>
        <p:nvSpPr>
          <p:cNvPr id="19" name="Shape 17"/>
          <p:cNvSpPr/>
          <p:nvPr/>
        </p:nvSpPr>
        <p:spPr>
          <a:xfrm>
            <a:off x="661475" y="5229126"/>
            <a:ext cx="5264217" cy="1039118"/>
          </a:xfrm>
          <a:prstGeom prst="roundRect">
            <a:avLst>
              <a:gd name="adj" fmla="val 5640"/>
            </a:avLst>
          </a:prstGeom>
          <a:solidFill>
            <a:srgbClr val="DDEEE6"/>
          </a:solidFill>
          <a:ln w="6350">
            <a:solidFill>
              <a:srgbClr val="C3D4CC"/>
            </a:solidFill>
            <a:prstDash val="solid"/>
          </a:ln>
        </p:spPr>
      </p:sp>
      <p:sp>
        <p:nvSpPr>
          <p:cNvPr id="20" name="Text 18"/>
          <p:cNvSpPr/>
          <p:nvPr/>
        </p:nvSpPr>
        <p:spPr>
          <a:xfrm>
            <a:off x="807323" y="5374977"/>
            <a:ext cx="4972521"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Environmental Agencies</a:t>
            </a:r>
            <a:endParaRPr lang="en-US" sz="1350" dirty="0"/>
          </a:p>
        </p:txBody>
      </p:sp>
      <p:sp>
        <p:nvSpPr>
          <p:cNvPr id="21" name="Text 19"/>
          <p:cNvSpPr/>
          <p:nvPr/>
        </p:nvSpPr>
        <p:spPr>
          <a:xfrm>
            <a:off x="807323" y="5710634"/>
            <a:ext cx="4972521"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Empowering monitoring bodies with continuous, data-driven environmental oversight.</a:t>
            </a:r>
            <a:endParaRPr lang="en-US" sz="1050" dirty="0"/>
          </a:p>
        </p:txBody>
      </p:sp>
      <p:sp>
        <p:nvSpPr>
          <p:cNvPr id="22" name="Shape 20"/>
          <p:cNvSpPr/>
          <p:nvPr/>
        </p:nvSpPr>
        <p:spPr>
          <a:xfrm>
            <a:off x="6171946" y="1069975"/>
            <a:ext cx="5465030" cy="5330726"/>
          </a:xfrm>
          <a:prstGeom prst="roundRect">
            <a:avLst>
              <a:gd name="adj" fmla="val 1885"/>
            </a:avLst>
          </a:prstGeom>
          <a:solidFill>
            <a:srgbClr val="224435"/>
          </a:solidFill>
          <a:ln/>
        </p:spPr>
      </p:sp>
      <p:sp>
        <p:nvSpPr>
          <p:cNvPr id="23" name="Text 21"/>
          <p:cNvSpPr/>
          <p:nvPr/>
        </p:nvSpPr>
        <p:spPr>
          <a:xfrm>
            <a:off x="6311444" y="1187648"/>
            <a:ext cx="5186034"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Key Benefits</a:t>
            </a:r>
            <a:endParaRPr lang="en-US" sz="1350" dirty="0"/>
          </a:p>
        </p:txBody>
      </p:sp>
      <p:pic>
        <p:nvPicPr>
          <p:cNvPr id="2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1542355"/>
            <a:ext cx="209247" cy="209252"/>
          </a:xfrm>
          <a:prstGeom prst="rect">
            <a:avLst/>
          </a:prstGeom>
        </p:spPr>
      </p:pic>
      <p:sp>
        <p:nvSpPr>
          <p:cNvPr id="25" name="Text 22"/>
          <p:cNvSpPr/>
          <p:nvPr/>
        </p:nvSpPr>
        <p:spPr>
          <a:xfrm>
            <a:off x="6764863" y="1538089"/>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Continuous Urban Noise Monitoring</a:t>
            </a:r>
            <a:endParaRPr lang="en-US" sz="1350" dirty="0"/>
          </a:p>
        </p:txBody>
      </p:sp>
      <p:sp>
        <p:nvSpPr>
          <p:cNvPr id="26" name="Text 23"/>
          <p:cNvSpPr/>
          <p:nvPr/>
        </p:nvSpPr>
        <p:spPr>
          <a:xfrm>
            <a:off x="6764863" y="1873746"/>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Eliminates gaps in environmental data through uninterrupted, city-wide sensor coverage.</a:t>
            </a:r>
            <a:endParaRPr lang="en-US" sz="1050" dirty="0"/>
          </a:p>
        </p:txBody>
      </p:sp>
      <p:pic>
        <p:nvPicPr>
          <p:cNvPr id="2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2525216"/>
            <a:ext cx="209247" cy="209252"/>
          </a:xfrm>
          <a:prstGeom prst="rect">
            <a:avLst/>
          </a:prstGeom>
        </p:spPr>
      </p:pic>
      <p:sp>
        <p:nvSpPr>
          <p:cNvPr id="28" name="Text 24"/>
          <p:cNvSpPr/>
          <p:nvPr/>
        </p:nvSpPr>
        <p:spPr>
          <a:xfrm>
            <a:off x="6764863" y="2520950"/>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Improved Environmental Awareness</a:t>
            </a:r>
            <a:endParaRPr lang="en-US" sz="1350" dirty="0"/>
          </a:p>
        </p:txBody>
      </p:sp>
      <p:sp>
        <p:nvSpPr>
          <p:cNvPr id="29" name="Text 25"/>
          <p:cNvSpPr/>
          <p:nvPr/>
        </p:nvSpPr>
        <p:spPr>
          <a:xfrm>
            <a:off x="6764863" y="2856607"/>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Provides authorities and communities with a clear, evidence-based picture of urban noise conditions.</a:t>
            </a:r>
            <a:endParaRPr lang="en-US" sz="1050" dirty="0"/>
          </a:p>
        </p:txBody>
      </p:sp>
      <p:pic>
        <p:nvPicPr>
          <p:cNvPr id="3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3508077"/>
            <a:ext cx="209247" cy="209252"/>
          </a:xfrm>
          <a:prstGeom prst="rect">
            <a:avLst/>
          </a:prstGeom>
        </p:spPr>
      </p:pic>
      <p:sp>
        <p:nvSpPr>
          <p:cNvPr id="31" name="Text 26"/>
          <p:cNvSpPr/>
          <p:nvPr/>
        </p:nvSpPr>
        <p:spPr>
          <a:xfrm>
            <a:off x="6764863" y="3503811"/>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Better Public Health Protection</a:t>
            </a:r>
            <a:endParaRPr lang="en-US" sz="1350" dirty="0"/>
          </a:p>
        </p:txBody>
      </p:sp>
      <p:sp>
        <p:nvSpPr>
          <p:cNvPr id="32" name="Text 27"/>
          <p:cNvSpPr/>
          <p:nvPr/>
        </p:nvSpPr>
        <p:spPr>
          <a:xfrm>
            <a:off x="6764863" y="3839468"/>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Enables faster identification and mitigation of noise levels harmful to human health.</a:t>
            </a:r>
            <a:endParaRPr lang="en-US" sz="1050" dirty="0"/>
          </a:p>
        </p:txBody>
      </p:sp>
      <p:pic>
        <p:nvPicPr>
          <p:cNvPr id="3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4490938"/>
            <a:ext cx="209247" cy="209252"/>
          </a:xfrm>
          <a:prstGeom prst="rect">
            <a:avLst/>
          </a:prstGeom>
        </p:spPr>
      </p:pic>
      <p:sp>
        <p:nvSpPr>
          <p:cNvPr id="34" name="Text 28"/>
          <p:cNvSpPr/>
          <p:nvPr/>
        </p:nvSpPr>
        <p:spPr>
          <a:xfrm>
            <a:off x="6764863" y="4486672"/>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Location-Specific Insights</a:t>
            </a:r>
            <a:endParaRPr lang="en-US" sz="1350" dirty="0"/>
          </a:p>
        </p:txBody>
      </p:sp>
      <p:sp>
        <p:nvSpPr>
          <p:cNvPr id="35" name="Text 29"/>
          <p:cNvSpPr/>
          <p:nvPr/>
        </p:nvSpPr>
        <p:spPr>
          <a:xfrm>
            <a:off x="6764863" y="4822329"/>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GPS-tagged data delivers granular, zone-level intelligence for targeted action.</a:t>
            </a:r>
            <a:endParaRPr lang="en-US" sz="1050" dirty="0"/>
          </a:p>
        </p:txBody>
      </p:sp>
      <p:pic>
        <p:nvPicPr>
          <p:cNvPr id="36"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5473799"/>
            <a:ext cx="209247" cy="209252"/>
          </a:xfrm>
          <a:prstGeom prst="rect">
            <a:avLst/>
          </a:prstGeom>
        </p:spPr>
      </p:pic>
      <p:sp>
        <p:nvSpPr>
          <p:cNvPr id="37" name="Text 30"/>
          <p:cNvSpPr/>
          <p:nvPr/>
        </p:nvSpPr>
        <p:spPr>
          <a:xfrm>
            <a:off x="6764863" y="5469533"/>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Sustainable City Management</a:t>
            </a:r>
            <a:endParaRPr lang="en-US" sz="1350" dirty="0"/>
          </a:p>
        </p:txBody>
      </p:sp>
      <p:sp>
        <p:nvSpPr>
          <p:cNvPr id="38" name="Text 31"/>
          <p:cNvSpPr/>
          <p:nvPr/>
        </p:nvSpPr>
        <p:spPr>
          <a:xfrm>
            <a:off x="6764863" y="5805190"/>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Supports long-term urban planning and environmental policy with reliable longitudinal data.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6120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233939"/>
                </a:solidFill>
                <a:latin typeface="Syne Bold" pitchFamily="34" charset="0"/>
                <a:ea typeface="Syne Bold" pitchFamily="34" charset="-122"/>
                <a:cs typeface="Syne Bold" pitchFamily="34" charset="-120"/>
              </a:rPr>
              <a:t>Conclusion and Future Impact</a:t>
            </a:r>
            <a:endParaRPr lang="en-US" sz="3250" dirty="0"/>
          </a:p>
        </p:txBody>
      </p:sp>
      <p:sp>
        <p:nvSpPr>
          <p:cNvPr id="3" name="Text 1"/>
          <p:cNvSpPr/>
          <p:nvPr/>
        </p:nvSpPr>
        <p:spPr>
          <a:xfrm>
            <a:off x="661475" y="1608634"/>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The IoT-Based Urban Noise Pollution Monitoring System represents a fundamental modernization of how cities understand and manage their acoustic environment — replacing periodic, fragmented surveys with </a:t>
            </a:r>
            <a:r>
              <a:rPr lang="en-US" sz="1300" b="1" dirty="0">
                <a:solidFill>
                  <a:srgbClr val="3B4E4E"/>
                </a:solidFill>
                <a:latin typeface="Overpass Bold" pitchFamily="34" charset="0"/>
                <a:ea typeface="Overpass Bold" pitchFamily="34" charset="-122"/>
                <a:cs typeface="Overpass Bold" pitchFamily="34" charset="-120"/>
              </a:rPr>
              <a:t>continuous, real-time, location-based environmental data collection</a:t>
            </a:r>
            <a:r>
              <a:rPr lang="en-US" sz="1300" dirty="0">
                <a:solidFill>
                  <a:srgbClr val="3B4E4E"/>
                </a:solidFill>
                <a:latin typeface="Overpass Light" pitchFamily="34" charset="0"/>
                <a:ea typeface="Overpass Light" pitchFamily="34" charset="-122"/>
                <a:cs typeface="Overpass Light" pitchFamily="34" charset="-120"/>
              </a:rPr>
              <a:t>.</a:t>
            </a:r>
            <a:endParaRPr lang="en-US" sz="1300" dirty="0"/>
          </a:p>
        </p:txBody>
      </p:sp>
      <p:sp>
        <p:nvSpPr>
          <p:cNvPr id="4" name="Shape 2"/>
          <p:cNvSpPr/>
          <p:nvPr/>
        </p:nvSpPr>
        <p:spPr>
          <a:xfrm>
            <a:off x="661475" y="2323902"/>
            <a:ext cx="3512653" cy="2685455"/>
          </a:xfrm>
          <a:prstGeom prst="roundRect">
            <a:avLst>
              <a:gd name="adj" fmla="val 2587"/>
            </a:avLst>
          </a:prstGeom>
          <a:solidFill>
            <a:srgbClr val="DDEEE6"/>
          </a:solidFill>
          <a:ln w="6350">
            <a:solidFill>
              <a:srgbClr val="C3D4CC"/>
            </a:solidFill>
            <a:prstDash val="solid"/>
          </a:ln>
        </p:spPr>
      </p:sp>
      <p:sp>
        <p:nvSpPr>
          <p:cNvPr id="5" name="Shape 3"/>
          <p:cNvSpPr/>
          <p:nvPr/>
        </p:nvSpPr>
        <p:spPr>
          <a:xfrm>
            <a:off x="833119" y="2495550"/>
            <a:ext cx="496081" cy="496094"/>
          </a:xfrm>
          <a:prstGeom prst="ellipse">
            <a:avLst/>
          </a:prstGeom>
          <a:solidFill>
            <a:srgbClr val="224435"/>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9541" y="2631877"/>
            <a:ext cx="223237" cy="223242"/>
          </a:xfrm>
          <a:prstGeom prst="rect">
            <a:avLst/>
          </a:prstGeom>
        </p:spPr>
      </p:pic>
      <p:sp>
        <p:nvSpPr>
          <p:cNvPr id="7" name="Text 4"/>
          <p:cNvSpPr/>
          <p:nvPr/>
        </p:nvSpPr>
        <p:spPr>
          <a:xfrm>
            <a:off x="833119" y="3156942"/>
            <a:ext cx="3169364"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Integrated Technology Platform</a:t>
            </a:r>
            <a:endParaRPr lang="en-US" sz="1600" dirty="0"/>
          </a:p>
        </p:txBody>
      </p:sp>
      <p:sp>
        <p:nvSpPr>
          <p:cNvPr id="8" name="Text 5"/>
          <p:cNvSpPr/>
          <p:nvPr/>
        </p:nvSpPr>
        <p:spPr>
          <a:xfrm>
            <a:off x="833119" y="3773091"/>
            <a:ext cx="31693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IoT sensors, GPS, cloud connectivity, analytics engines, dashboards, and automated alerts are unified into a single cohesive system.</a:t>
            </a:r>
            <a:endParaRPr lang="en-US" sz="1300" dirty="0"/>
          </a:p>
        </p:txBody>
      </p:sp>
      <p:sp>
        <p:nvSpPr>
          <p:cNvPr id="9" name="Shape 6"/>
          <p:cNvSpPr/>
          <p:nvPr/>
        </p:nvSpPr>
        <p:spPr>
          <a:xfrm>
            <a:off x="4339422" y="2323902"/>
            <a:ext cx="3512752" cy="2685455"/>
          </a:xfrm>
          <a:prstGeom prst="roundRect">
            <a:avLst>
              <a:gd name="adj" fmla="val 2587"/>
            </a:avLst>
          </a:prstGeom>
          <a:solidFill>
            <a:srgbClr val="DDEEE6"/>
          </a:solidFill>
          <a:ln w="6350">
            <a:solidFill>
              <a:srgbClr val="C3D4CC"/>
            </a:solidFill>
            <a:prstDash val="solid"/>
          </a:ln>
        </p:spPr>
      </p:sp>
      <p:sp>
        <p:nvSpPr>
          <p:cNvPr id="10" name="Shape 7"/>
          <p:cNvSpPr/>
          <p:nvPr/>
        </p:nvSpPr>
        <p:spPr>
          <a:xfrm>
            <a:off x="4511066" y="2495550"/>
            <a:ext cx="496081" cy="496094"/>
          </a:xfrm>
          <a:prstGeom prst="ellipse">
            <a:avLst/>
          </a:prstGeom>
          <a:solidFill>
            <a:srgbClr val="224435"/>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7488" y="2631877"/>
            <a:ext cx="223237" cy="223242"/>
          </a:xfrm>
          <a:prstGeom prst="rect">
            <a:avLst/>
          </a:prstGeom>
        </p:spPr>
      </p:pic>
      <p:sp>
        <p:nvSpPr>
          <p:cNvPr id="12" name="Text 8"/>
          <p:cNvSpPr/>
          <p:nvPr/>
        </p:nvSpPr>
        <p:spPr>
          <a:xfrm>
            <a:off x="4511066" y="3156942"/>
            <a:ext cx="3169464"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Informed Environmental Decisions</a:t>
            </a:r>
            <a:endParaRPr lang="en-US" sz="1600" dirty="0"/>
          </a:p>
        </p:txBody>
      </p:sp>
      <p:sp>
        <p:nvSpPr>
          <p:cNvPr id="13" name="Text 9"/>
          <p:cNvSpPr/>
          <p:nvPr/>
        </p:nvSpPr>
        <p:spPr>
          <a:xfrm>
            <a:off x="4511066" y="3773091"/>
            <a:ext cx="31694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Authorities gain the data infrastructure needed to make evidence-based decisions on noise regulation, urban planning, and public health protection.</a:t>
            </a:r>
            <a:endParaRPr lang="en-US" sz="1300" dirty="0"/>
          </a:p>
        </p:txBody>
      </p:sp>
      <p:sp>
        <p:nvSpPr>
          <p:cNvPr id="14" name="Shape 10"/>
          <p:cNvSpPr/>
          <p:nvPr/>
        </p:nvSpPr>
        <p:spPr>
          <a:xfrm>
            <a:off x="8017468" y="2323902"/>
            <a:ext cx="3512653" cy="2685455"/>
          </a:xfrm>
          <a:prstGeom prst="roundRect">
            <a:avLst>
              <a:gd name="adj" fmla="val 2587"/>
            </a:avLst>
          </a:prstGeom>
          <a:solidFill>
            <a:srgbClr val="DDEEE6"/>
          </a:solidFill>
          <a:ln w="6350">
            <a:solidFill>
              <a:srgbClr val="C3D4CC"/>
            </a:solidFill>
            <a:prstDash val="solid"/>
          </a:ln>
        </p:spPr>
      </p:sp>
      <p:sp>
        <p:nvSpPr>
          <p:cNvPr id="15" name="Shape 11"/>
          <p:cNvSpPr/>
          <p:nvPr/>
        </p:nvSpPr>
        <p:spPr>
          <a:xfrm>
            <a:off x="8189112" y="2495550"/>
            <a:ext cx="496081" cy="496094"/>
          </a:xfrm>
          <a:prstGeom prst="ellipse">
            <a:avLst/>
          </a:prstGeom>
          <a:solidFill>
            <a:srgbClr val="224435"/>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25535" y="2631877"/>
            <a:ext cx="223237" cy="223242"/>
          </a:xfrm>
          <a:prstGeom prst="rect">
            <a:avLst/>
          </a:prstGeom>
        </p:spPr>
      </p:pic>
      <p:sp>
        <p:nvSpPr>
          <p:cNvPr id="17" name="Text 12"/>
          <p:cNvSpPr/>
          <p:nvPr/>
        </p:nvSpPr>
        <p:spPr>
          <a:xfrm>
            <a:off x="8189112" y="3156942"/>
            <a:ext cx="316936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Smarter, Healthier Cities</a:t>
            </a:r>
            <a:endParaRPr lang="en-US" sz="1600" dirty="0"/>
          </a:p>
        </p:txBody>
      </p:sp>
      <p:sp>
        <p:nvSpPr>
          <p:cNvPr id="18" name="Text 13"/>
          <p:cNvSpPr/>
          <p:nvPr/>
        </p:nvSpPr>
        <p:spPr>
          <a:xfrm>
            <a:off x="8189112" y="3514626"/>
            <a:ext cx="31693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The system's vision extends beyond monitoring — it is a foundational tool for building more sustainable, livable, and acoustically responsible urban environments.</a:t>
            </a:r>
            <a:endParaRPr lang="en-US" sz="1300" dirty="0"/>
          </a:p>
        </p:txBody>
      </p:sp>
      <p:sp>
        <p:nvSpPr>
          <p:cNvPr id="19" name="Text 14"/>
          <p:cNvSpPr/>
          <p:nvPr/>
        </p:nvSpPr>
        <p:spPr>
          <a:xfrm>
            <a:off x="909516" y="5381427"/>
            <a:ext cx="10620705"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B4E4E"/>
                </a:solidFill>
                <a:latin typeface="Overpass Bold" pitchFamily="34" charset="0"/>
                <a:ea typeface="Overpass Bold" pitchFamily="34" charset="-122"/>
                <a:cs typeface="Overpass Bold" pitchFamily="34" charset="-120"/>
              </a:rPr>
              <a:t>Vision:</a:t>
            </a:r>
            <a:r>
              <a:rPr lang="en-US" sz="1300" dirty="0">
                <a:solidFill>
                  <a:srgbClr val="3B4E4E"/>
                </a:solidFill>
                <a:latin typeface="Overpass Light" pitchFamily="34" charset="0"/>
                <a:ea typeface="Overpass Light" pitchFamily="34" charset="-122"/>
                <a:cs typeface="Overpass Light" pitchFamily="34" charset="-120"/>
              </a:rPr>
              <a:t> Smarter, healthier, and more sustainable urban environments — powered by continuous, intelligent, IoT-driven environmental monitoring that puts actionable data in the hands of those responsible for our cities.</a:t>
            </a:r>
            <a:endParaRPr lang="en-US" sz="1300" dirty="0"/>
          </a:p>
        </p:txBody>
      </p:sp>
      <p:sp>
        <p:nvSpPr>
          <p:cNvPr id="20" name="Shape 15"/>
          <p:cNvSpPr/>
          <p:nvPr/>
        </p:nvSpPr>
        <p:spPr>
          <a:xfrm>
            <a:off x="661475" y="5195391"/>
            <a:ext cx="19050" cy="901303"/>
          </a:xfrm>
          <a:prstGeom prst="roundRect">
            <a:avLst>
              <a:gd name="adj" fmla="val 49999"/>
            </a:avLst>
          </a:prstGeom>
          <a:solidFill>
            <a:srgbClr val="224435"/>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1408</Words>
  <Application>Microsoft Office PowerPoint</Application>
  <PresentationFormat>Widescreen</PresentationFormat>
  <Paragraphs>163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Overpass Light</vt:lpstr>
      <vt:lpstr>Syne Bold</vt:lpstr>
      <vt:lpstr>Overpass Bold</vt:lpstr>
      <vt:lpstr>Syne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LOKESH VARMA</dc:creator>
  <cp:lastModifiedBy>LOKESH VARMA</cp:lastModifiedBy>
  <cp:revision>4</cp:revision>
  <dcterms:created xsi:type="dcterms:W3CDTF">2026-08-20T04:34:19Z</dcterms:created>
  <dcterms:modified xsi:type="dcterms:W3CDTF">2026-10-02T17:30:09Z</dcterms:modified>
</cp:coreProperties>
</file>